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Clear Sans" charset="1" panose="020B0503030202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lear Sans Medium" charset="1" panose="020B0603030202020304"/>
      <p:regular r:id="rId21"/>
    </p:embeddedFont>
    <p:embeddedFont>
      <p:font typeface="Clear Sans Bold" charset="1" panose="020B08030302020203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3679744"/>
            <a:chOff x="0" y="0"/>
            <a:chExt cx="13017500" cy="49063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85725"/>
              <a:ext cx="13017500" cy="2596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50"/>
                </a:lnSpc>
                <a:spcBef>
                  <a:spcPct val="0"/>
                </a:spcBef>
              </a:pPr>
              <a:r>
                <a:rPr lang="en-US" sz="4950" spc="-9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S.A.P.I. — Sistema de Alerta y Priorización de Riesgo de Incendios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0050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DANIEL GONZALO CORTEZ FIERRO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3933825"/>
            <a:ext cx="97631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Hito 1 · Sprint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5467350"/>
            <a:ext cx="97631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Universidad Andrés Bello · INSW421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1990554"/>
            <a:chOff x="0" y="0"/>
            <a:chExt cx="13017500" cy="265407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Problema y propuesta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24039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INFORMACIÓN Y DATOS REALES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50568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666750" y="5105400"/>
            <a:ext cx="97631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¿Dónde conviene priorizar la atención utilizando información disponible antes de una ventana futura?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6419850"/>
            <a:ext cx="9763125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Corredor Viña del Mar · Quilpué · Villa Alemana — grilla de 50 celdas</a:t>
            </a:r>
          </a:p>
          <a:p>
            <a:pPr algn="l">
              <a:lnSpc>
                <a:spcPts val="2729"/>
              </a:lnSpc>
            </a:pP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NASA FIRMS · DMC estación 330007 · Copernicus DEM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Entregas del Hito 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1562086"/>
            <a:ext cx="6886575" cy="1944877"/>
            <a:chOff x="0" y="0"/>
            <a:chExt cx="9182100" cy="259317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146176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datos reales para construir un pipeline temporal causal que produce un ranking exploratorio de riesgo relativo.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675" y="4248150"/>
            <a:ext cx="6886575" cy="1577110"/>
            <a:chOff x="0" y="0"/>
            <a:chExt cx="9182100" cy="210281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CIFRAS CLAVE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45982"/>
              <a:ext cx="9182100" cy="956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Se han procesado 363,000 filas de datos, generando 7,260 forecast_times y un ranking basado en 50 celdas.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4675" y="6934200"/>
            <a:ext cx="6886575" cy="1944864"/>
            <a:chOff x="0" y="0"/>
            <a:chExt cx="9182100" cy="259315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47625"/>
              <a:ext cx="91821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PROTOTIPO GIS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46158"/>
              <a:ext cx="91821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prototipo GIS visualiza el ranking de riesgo por celda — una herramienta exploratoria de apoyo, no un sistema operacional.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562086"/>
            <a:ext cx="832485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Arquitectura del Sistema S.A.P.I.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tres fuentes reales (NASA FIRMS, DMC 330007, Copernicus DEM) mediante procesamiento temporal y espacial causal.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MODELO Y RANKING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494960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dataset temporal alimenta el Modelo D, que produce un ranking relativo de las 50 celdas — nunca una probabilidad.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137432" y="7200900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9" id="9"/>
          <p:cNvGrpSpPr/>
          <p:nvPr/>
        </p:nvGrpSpPr>
        <p:grpSpPr>
          <a:xfrm rot="0">
            <a:off x="3333750" y="4095750"/>
            <a:ext cx="5905500" cy="857250"/>
            <a:chOff x="0" y="0"/>
            <a:chExt cx="7874000" cy="1143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7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143000"/>
                  </a:lnTo>
                  <a:lnTo>
                    <a:pt x="0" y="1143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87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524250" y="4152900"/>
            <a:ext cx="5524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NASA FIRMS · DMC 330007 · Copernicus DEM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24250" y="4572000"/>
            <a:ext cx="552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DMC = meteorología REGIONAL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67450" y="4953000"/>
            <a:ext cx="38100" cy="238125"/>
            <a:chOff x="0" y="0"/>
            <a:chExt cx="50800" cy="317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3750" y="5191125"/>
            <a:ext cx="5905500" cy="523875"/>
            <a:chOff x="0" y="0"/>
            <a:chExt cx="7874000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3524250" y="5276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Procesamiento temporal / espacial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267450" y="5715000"/>
            <a:ext cx="38100" cy="238125"/>
            <a:chOff x="0" y="0"/>
            <a:chExt cx="50800" cy="317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333750" y="5953125"/>
            <a:ext cx="5905500" cy="523875"/>
            <a:chOff x="0" y="0"/>
            <a:chExt cx="7874000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524250" y="6038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Dataset temporal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267450" y="6477000"/>
            <a:ext cx="38100" cy="238125"/>
            <a:chOff x="0" y="0"/>
            <a:chExt cx="508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333750" y="6715125"/>
            <a:ext cx="5905500" cy="523875"/>
            <a:chOff x="0" y="0"/>
            <a:chExt cx="7874000" cy="6985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3524250" y="6800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D → score_current_grid()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267450" y="7239000"/>
            <a:ext cx="38100" cy="238125"/>
            <a:chOff x="0" y="0"/>
            <a:chExt cx="50800" cy="3175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333750" y="7477125"/>
            <a:ext cx="5905500" cy="523875"/>
            <a:chOff x="0" y="0"/>
            <a:chExt cx="7874000" cy="6985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3524250" y="7562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(50 celdas, con empates)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267450" y="8001000"/>
            <a:ext cx="38100" cy="238125"/>
            <a:chOff x="0" y="0"/>
            <a:chExt cx="50800" cy="317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333750" y="8239125"/>
            <a:ext cx="5905500" cy="523875"/>
            <a:chOff x="0" y="0"/>
            <a:chExt cx="7874000" cy="698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698500"/>
                  </a:lnTo>
                  <a:lnTo>
                    <a:pt x="0" y="6985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3524250" y="8324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Dashboard Streamlit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1562100"/>
            <a:ext cx="9763125" cy="3575059"/>
            <a:chOff x="0" y="0"/>
            <a:chExt cx="13017500" cy="476674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2815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Predecir sin mirar el futuro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19751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Todo feature usado tiene timestamp menor o igual a T. El target es si existe una detección FIRMS válida en la ventana futura T &lt; t ≤ T+6h — nunca se usa información posterior a T para construir un feature.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58125" y="62293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(cell_id, T) → ¿detección FIRMS válida en T &lt; t ≤ T+6h?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7181850"/>
            <a:ext cx="976312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Causalidad temporal · Cooldown · FIRMS ≠ incendio confirmado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28950" y="1714500"/>
            <a:ext cx="57150" cy="6667500"/>
            <a:chOff x="0" y="0"/>
            <a:chExt cx="762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6025" y="4953000"/>
            <a:ext cx="1143000" cy="1619250"/>
            <a:chOff x="0" y="0"/>
            <a:chExt cx="152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9875" y="4705350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7250" y="213360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PASADO / PRESENTE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2619375"/>
            <a:ext cx="4381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features ≤ 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8050" y="4657725"/>
            <a:ext cx="57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80085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7229475"/>
            <a:ext cx="438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 &lt; t ≤ T+6h — target FIRMS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657600"/>
            <a:ext cx="6886575" cy="3764280"/>
            <a:chOff x="0" y="0"/>
            <a:chExt cx="9182100" cy="50190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VALIDACIÓN Y LIMITACIÓN CIENTÍFICA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1095"/>
              <a:ext cx="9182100" cy="387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Soporte de evidencia por año de test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Validación walk-forward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2022 no entrenable, 2023 limitado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2024 adecuado, 2025 limitado, 2026 (parcial) limitado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Coincidencia con el megaevento del 3 de febrero de 2024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657600"/>
            <a:ext cx="6886575" cy="3345180"/>
            <a:chOff x="0" y="0"/>
            <a:chExt cx="9182100" cy="44602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MENSAJE PRINCIPAL Y CONSIDERACIONES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331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Evidencia exploratoria, no generalización predictiva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No presentar curvas ROC o PR como logros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Clarificar que el desempeño no es estable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Importancia de la interpretación rigurosa de los datos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Validación y limitación científica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3152775"/>
            <a:ext cx="8324850" cy="1956435"/>
            <a:chOff x="0" y="0"/>
            <a:chExt cx="11099800" cy="26085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6175"/>
              <a:ext cx="1109980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Ranking relativo · Datos históricos / frescura · Trazabilidad por celda</a:t>
              </a: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Score relativo exploratorio ≠ probabilidad calibrada.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0"/>
              <a:ext cx="110998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PROTOTIPO FUNCIONAL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6115050" cy="10287000"/>
            <a:chOff x="0" y="0"/>
            <a:chExt cx="81534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3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153400">
                  <a:moveTo>
                    <a:pt x="0" y="0"/>
                  </a:moveTo>
                  <a:lnTo>
                    <a:pt x="8153400" y="0"/>
                  </a:lnTo>
                  <a:lnTo>
                    <a:pt x="8153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CE7E2"/>
            </a:solidFill>
            <a:ln w="28575" cap="sq">
              <a:solidFill>
                <a:srgbClr val="66727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53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76275" y="4419600"/>
            <a:ext cx="4762500" cy="88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INSERTAR CAPTURA REAL DEL DASHBOARD S.A.P.I.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99621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PRUEBAS AUTOMÁTICAS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14446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COBERTURA DE CÓDIGO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8157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29271" y="4248150"/>
            <a:ext cx="28771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SMOKE TEST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744096" y="4248150"/>
            <a:ext cx="2877154" cy="3709062"/>
            <a:chOff x="0" y="0"/>
            <a:chExt cx="3836205" cy="4945416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3836205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DE VALIDEZ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501811"/>
              <a:ext cx="3836205" cy="3443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 pesar de las pruebas exitosas, se debe destacar que la validación científica del modelo no se establece solo por la aprobación de las pruebas.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61122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657225"/>
            <a:ext cx="9762521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</a:pPr>
            <a:r>
              <a:rPr lang="en-US" sz="6737" spc="-134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Evidencia Técnica: Pruebas y Cobertura de Código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6723923">
            <a:off x="13666568" y="-2297777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80022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470/470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0022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pruebas exitosas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15050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91,72%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15050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cobertura app + src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2987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2987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smoke test Streamlit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8324850" cy="5269162"/>
            <a:chOff x="0" y="0"/>
            <a:chExt cx="11099800" cy="702555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1099800" cy="2854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00"/>
                </a:lnSpc>
              </a:pPr>
              <a:r>
                <a:rPr lang="en-US" sz="7000" spc="-140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Trazabilidad y Calidad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566806"/>
              <a:ext cx="11099800" cy="508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ANÁLISIS DE GESTIÓN Y DESARROLLO DE PROYECTO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746535"/>
              <a:ext cx="11099800" cy="2279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0" indent="-226695" lvl="1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10 tickets Jira auditados</a:t>
              </a:r>
            </a:p>
            <a:p>
              <a:pPr algn="l" marL="453390" indent="-226695" lvl="1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7 requerimientos temporales sin historia de usuario</a:t>
              </a:r>
            </a:p>
            <a:p>
              <a:pPr algn="l" marL="453390" indent="-226695" lvl="1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Calidad: 3 verificados, 4 parciales, 2 no verificados, 1 no aplica</a:t>
              </a:r>
            </a:p>
            <a:p>
              <a:pPr algn="l" marL="453390" indent="-226695" lvl="1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23 riesgos identificados y clasificados</a:t>
              </a:r>
            </a:p>
            <a:p>
              <a:pPr algn="l" marL="453390" indent="-226695" lvl="1">
                <a:lnSpc>
                  <a:spcPts val="273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68 commits · tag de Sprint 1 verificado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774635" y="7396104"/>
            <a:ext cx="6274865" cy="4114800"/>
          </a:xfrm>
          <a:custGeom>
            <a:avLst/>
            <a:gdLst/>
            <a:ahLst/>
            <a:cxnLst/>
            <a:rect r="r" b="b" t="t" l="l"/>
            <a:pathLst>
              <a:path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657600"/>
            <a:ext cx="6886575" cy="2926080"/>
            <a:chOff x="0" y="0"/>
            <a:chExt cx="9182100" cy="390144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FORTALEZAS TÉCNICAS DEL PROYECTO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Pipeline temporal causal implementado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Uso de datos reales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Prototipo funcional desarrollado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470/470 pruebas automáticas exitosas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Arquitectura del sistema verificable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3657600"/>
            <a:ext cx="6886575" cy="2926080"/>
            <a:chOff x="0" y="0"/>
            <a:chExt cx="9182100" cy="3901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BRECHAS EN LA GESTIÓN DEL SPRINT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Ausencia de un Sprint Goal histórico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Falta de Definition of Done documentada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No seguimiento semanal de avances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No se realizó una Sprint Review formal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aceptación externa de los entregables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Cierre de Sprint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6989">
            <a:off x="-12431368" y="-8975965"/>
            <a:ext cx="27274407" cy="25058977"/>
          </a:xfrm>
          <a:custGeom>
            <a:avLst/>
            <a:gdLst/>
            <a:ahLst/>
            <a:cxnLst/>
            <a:rect r="r" b="b" t="t" l="l"/>
            <a:pathLst>
              <a:path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5111384">
            <a:off x="13680135" y="1098024"/>
            <a:ext cx="12122938" cy="11672351"/>
          </a:xfrm>
          <a:custGeom>
            <a:avLst/>
            <a:gdLst/>
            <a:ahLst/>
            <a:cxnLst/>
            <a:rect r="r" b="b" t="t" l="l"/>
            <a:pathLst>
              <a:path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1562100"/>
            <a:ext cx="1120140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</a:pPr>
            <a:r>
              <a:rPr lang="en-US" sz="6999" spc="-139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Base Técnica Verificable para Sprint 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5143500"/>
            <a:ext cx="8324850" cy="3465218"/>
            <a:chOff x="0" y="0"/>
            <a:chExt cx="11099800" cy="462029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7620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REALES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567135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NASA FIRMS · DMC 330007 · Copernicus DEM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714475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PIPELINE CAUSAL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357810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Features ≤ T → ranking de 50 celdas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3505150"/>
              <a:ext cx="110998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EXPLÍCITAS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4148486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Score relativo, no alerta oficial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66750" y="8896350"/>
            <a:ext cx="11201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S.A.P.I. prioriza riesgo relativo; no reemplaza una alerta oficial.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9467850"/>
            <a:ext cx="2857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DEMO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S.A.P.I. — Sistema de Alerta y Priorización</dc:description>
  <dc:identifier>DAHUkB2w4Zg</dc:identifier>
  <dcterms:modified xsi:type="dcterms:W3CDTF">2011-08-01T06:04:30Z</dcterms:modified>
  <cp:revision>1</cp:revision>
  <dc:title>Presentación - S.A.P.I. — Sistema de Alerta y Priorización</dc:title>
</cp:coreProperties>
</file>