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Clear Sans" charset="1" panose="020B0503030202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lear Sans Medium" charset="1" panose="020B0603030202020304"/>
      <p:regular r:id="rId21"/>
    </p:embeddedFont>
    <p:embeddedFont>
      <p:font typeface="Clear Sans Bold" charset="1" panose="020B0803030202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3679744"/>
            <a:chOff x="0" y="0"/>
            <a:chExt cx="13017500" cy="49063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25"/>
              <a:ext cx="13017500" cy="259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50"/>
                </a:lnSpc>
                <a:spcBef>
                  <a:spcPct val="0"/>
                </a:spcBef>
              </a:pPr>
              <a:r>
                <a:rPr lang="en-US" sz="4950" spc="-9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S.A.P.I. — Sistema de Alerta y Priorización de Riesgo de Incendios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0050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DANIEL GONZALO CORTEZ FIERRO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3933825"/>
            <a:ext cx="97631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Hito 1 · Sprint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5467350"/>
            <a:ext cx="97631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Universidad Andrés Bello · INSW421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1990554"/>
            <a:chOff x="0" y="0"/>
            <a:chExt cx="13017500" cy="265407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Problema y propuesta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24039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INFORMACIÓN Y DATOS REALES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5105400"/>
            <a:ext cx="97631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¿Dónde conviene priorizar la atención utilizando información disponible antes de una ventana futura?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4198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Corredor Viña del Mar · Quilpué · Villa Alemana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3750" y="184785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VIÑA DEL MAR — QUILPUÉ — VILLA ALEMANA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0" y="280035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GRILLA · 50 CELDAS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0" y="66198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NASA FIRMS · DMC 330007 · Copernicus DEM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58925" y="2381250"/>
            <a:ext cx="57150" cy="381000"/>
            <a:chOff x="0" y="0"/>
            <a:chExt cx="76200" cy="50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508000"/>
            </a:xfrm>
            <a:custGeom>
              <a:avLst/>
              <a:gdLst/>
              <a:ahLst/>
              <a:cxnLst/>
              <a:rect r="r" b="b" t="t" l="l"/>
              <a:pathLst>
                <a:path h="50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0" y="3429000"/>
            <a:ext cx="19050" cy="2857500"/>
            <a:chOff x="0" y="0"/>
            <a:chExt cx="254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1500" y="3429000"/>
            <a:ext cx="19050" cy="2857500"/>
            <a:chOff x="0" y="0"/>
            <a:chExt cx="254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73000" y="3429000"/>
            <a:ext cx="19050" cy="2857500"/>
            <a:chOff x="0" y="0"/>
            <a:chExt cx="25400" cy="381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44500" y="3429000"/>
            <a:ext cx="19050" cy="2857500"/>
            <a:chOff x="0" y="0"/>
            <a:chExt cx="25400" cy="381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0" y="3429000"/>
            <a:ext cx="19050" cy="2857500"/>
            <a:chOff x="0" y="0"/>
            <a:chExt cx="25400" cy="381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0" y="3429000"/>
            <a:ext cx="19050" cy="2857500"/>
            <a:chOff x="0" y="0"/>
            <a:chExt cx="25400" cy="381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59000" y="3429000"/>
            <a:ext cx="19050" cy="2857500"/>
            <a:chOff x="0" y="0"/>
            <a:chExt cx="25400" cy="381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30500" y="3429000"/>
            <a:ext cx="19050" cy="2857500"/>
            <a:chOff x="0" y="0"/>
            <a:chExt cx="25400" cy="381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02000" y="3429000"/>
            <a:ext cx="19050" cy="2857500"/>
            <a:chOff x="0" y="0"/>
            <a:chExt cx="25400" cy="381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73500" y="3429000"/>
            <a:ext cx="19050" cy="2857500"/>
            <a:chOff x="0" y="0"/>
            <a:chExt cx="25400" cy="381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45000" y="3429000"/>
            <a:ext cx="19050" cy="2857500"/>
            <a:chOff x="0" y="0"/>
            <a:chExt cx="25400" cy="381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0" y="3429000"/>
            <a:ext cx="5715000" cy="19050"/>
            <a:chOff x="0" y="0"/>
            <a:chExt cx="7620000" cy="25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30000" y="4000500"/>
            <a:ext cx="5715000" cy="19050"/>
            <a:chOff x="0" y="0"/>
            <a:chExt cx="7620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0" y="4572000"/>
            <a:ext cx="5715000" cy="19050"/>
            <a:chOff x="0" y="0"/>
            <a:chExt cx="7620000" cy="25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430000" y="5143500"/>
            <a:ext cx="5715000" cy="19050"/>
            <a:chOff x="0" y="0"/>
            <a:chExt cx="7620000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30000" y="5715000"/>
            <a:ext cx="5715000" cy="19050"/>
            <a:chOff x="0" y="0"/>
            <a:chExt cx="76200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30000" y="6286500"/>
            <a:ext cx="5715000" cy="19050"/>
            <a:chOff x="0" y="0"/>
            <a:chExt cx="762000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601575" y="4029075"/>
            <a:ext cx="514350" cy="514350"/>
            <a:chOff x="0" y="0"/>
            <a:chExt cx="685800" cy="685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030575" y="4029075"/>
            <a:ext cx="514350" cy="514350"/>
            <a:chOff x="0" y="0"/>
            <a:chExt cx="685800" cy="685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6075" y="5172075"/>
            <a:ext cx="514350" cy="514350"/>
            <a:chOff x="0" y="0"/>
            <a:chExt cx="685800" cy="685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030075" y="5743575"/>
            <a:ext cx="514350" cy="514350"/>
            <a:chOff x="0" y="0"/>
            <a:chExt cx="685800" cy="685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Entregas del Hito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363.000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filas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530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7.260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530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instantes 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392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107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92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positivos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255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255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celdas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6229350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reales → pipeline temporal causal → ranking exploratorio → prototipo GIS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6896100"/>
            <a:ext cx="1695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No es un sistema operacional.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Arquitectura del Sistema S.A.P.I.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tres fuentes reales (NASA FIRMS, DMC 330007, Copernicus DEM) mediante procesamiento temporal y espacial causal.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MODELO Y RANKING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dataset temporal alimenta el Modelo D, que produce un ranking relativo de las 50 celdas — nunca una probabilidad.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3750" y="4095750"/>
            <a:ext cx="5905500" cy="857250"/>
            <a:chOff x="0" y="0"/>
            <a:chExt cx="7874000" cy="114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7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7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24250" y="4152900"/>
            <a:ext cx="5524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NASA FIRMS · DMC 330007 · Copernicus DEM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24250" y="4572000"/>
            <a:ext cx="552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DMC = meteorología REGIONAL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67450" y="4953000"/>
            <a:ext cx="38100" cy="238125"/>
            <a:chOff x="0" y="0"/>
            <a:chExt cx="50800" cy="31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333750" y="5191125"/>
            <a:ext cx="5905500" cy="523875"/>
            <a:chOff x="0" y="0"/>
            <a:chExt cx="78740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24250" y="5276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Procesamiento temporal / espacial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67450" y="5715000"/>
            <a:ext cx="38100" cy="238125"/>
            <a:chOff x="0" y="0"/>
            <a:chExt cx="50800" cy="317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33750" y="5953125"/>
            <a:ext cx="5905500" cy="523875"/>
            <a:chOff x="0" y="0"/>
            <a:chExt cx="78740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524250" y="6038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Dataset temporal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267450" y="6477000"/>
            <a:ext cx="38100" cy="238125"/>
            <a:chOff x="0" y="0"/>
            <a:chExt cx="50800" cy="317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333750" y="6715125"/>
            <a:ext cx="5905500" cy="523875"/>
            <a:chOff x="0" y="0"/>
            <a:chExt cx="78740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524250" y="6800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D → score_current_grid()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267450" y="7239000"/>
            <a:ext cx="38100" cy="238125"/>
            <a:chOff x="0" y="0"/>
            <a:chExt cx="50800" cy="317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333750" y="7477125"/>
            <a:ext cx="5905500" cy="523875"/>
            <a:chOff x="0" y="0"/>
            <a:chExt cx="78740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524250" y="7562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(50 celdas, con empates)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267450" y="8001000"/>
            <a:ext cx="38100" cy="238125"/>
            <a:chOff x="0" y="0"/>
            <a:chExt cx="50800" cy="317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333750" y="8239125"/>
            <a:ext cx="5905500" cy="523875"/>
            <a:chOff x="0" y="0"/>
            <a:chExt cx="7874000" cy="698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524250" y="8324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Dashboard Streamlit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1562100"/>
            <a:ext cx="9763125" cy="3575059"/>
            <a:chOff x="0" y="0"/>
            <a:chExt cx="13017500" cy="476674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Predecir sin mirar el futuro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19751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Todo feature usado tiene timestamp menor o igual a T. El target es si existe una detección FIRMS válida en la ventana futura T &lt; t ≤ T+6h — nunca se usa información posterior a T para construir un feature.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58125" y="62293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(cell_id, T) → ¿detección FIRMS válida en T &lt; t ≤ T+6h?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7181850"/>
            <a:ext cx="976312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Causalidad temporal · Cooldown · FIRMS ≠ incendio confirmado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28950" y="1714500"/>
            <a:ext cx="57150" cy="6667500"/>
            <a:chOff x="0" y="0"/>
            <a:chExt cx="762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6025" y="4953000"/>
            <a:ext cx="1143000" cy="1619250"/>
            <a:chOff x="0" y="0"/>
            <a:chExt cx="152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9875" y="4705350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7250" y="213360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PASADO / PRESENTE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2619375"/>
            <a:ext cx="4381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features ≤ 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8050" y="4657725"/>
            <a:ext cx="57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80085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7229475"/>
            <a:ext cx="438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 &lt; t ≤ T+6h — target FIRMS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Validación y limitación científica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333750"/>
            <a:ext cx="3048000" cy="1619250"/>
            <a:chOff x="0" y="0"/>
            <a:chExt cx="4064000" cy="215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43375" y="3333750"/>
            <a:ext cx="3048000" cy="1619250"/>
            <a:chOff x="0" y="0"/>
            <a:chExt cx="4064000" cy="215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00" y="3333750"/>
            <a:ext cx="3048000" cy="1619250"/>
            <a:chOff x="0" y="0"/>
            <a:chExt cx="4064000" cy="215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96625" y="3333750"/>
            <a:ext cx="3048000" cy="1619250"/>
            <a:chOff x="0" y="0"/>
            <a:chExt cx="4064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73250" y="3333750"/>
            <a:ext cx="3048000" cy="1619250"/>
            <a:chOff x="0" y="0"/>
            <a:chExt cx="4064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72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NO ENTRENABLE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387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387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2024*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1050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ADECUADO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37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63750" y="4076700"/>
            <a:ext cx="2667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 / PARCIAL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50" y="5562600"/>
            <a:ext cx="16954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Evidencia exploratoria; no generalización predictiva demostrada.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6238875"/>
            <a:ext cx="1695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* 2024 coincide con el megaevento del 03-02-2024.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770620"/>
            <a:chOff x="0" y="0"/>
            <a:chExt cx="22606000" cy="116941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274425"/>
              <a:ext cx="226060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Score relativo exploratorio ≠ probabilidad calibrada.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22606000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PROTOTIPO FUNCIONAL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1905000"/>
            <a:ext cx="12382500" cy="6962775"/>
            <a:chOff x="0" y="0"/>
            <a:chExt cx="16510000" cy="9283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10000" cy="9283700"/>
            </a:xfrm>
            <a:custGeom>
              <a:avLst/>
              <a:gdLst/>
              <a:ahLst/>
              <a:cxnLst/>
              <a:rect r="r" b="b" t="t" l="l"/>
              <a:pathLst>
                <a:path h="9283700" w="16510000">
                  <a:moveTo>
                    <a:pt x="0" y="0"/>
                  </a:moveTo>
                  <a:lnTo>
                    <a:pt x="16510000" y="0"/>
                  </a:lnTo>
                  <a:lnTo>
                    <a:pt x="16510000" y="9283700"/>
                  </a:lnTo>
                  <a:lnTo>
                    <a:pt x="0" y="9283700"/>
                  </a:lnTo>
                  <a:close/>
                </a:path>
              </a:pathLst>
            </a:custGeom>
            <a:solidFill>
              <a:srgbClr val="DCE7E2"/>
            </a:solidFill>
            <a:ln w="28575" cap="sq">
              <a:solidFill>
                <a:srgbClr val="66727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510000" cy="932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9250" y="5133975"/>
            <a:ext cx="1047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INSERTAR CAPTURA REAL DEL DASHBOARD S.A.P.I.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525500" y="2476500"/>
            <a:ext cx="457200" cy="457200"/>
            <a:chOff x="0" y="0"/>
            <a:chExt cx="609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5500" y="2524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2990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relativo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25500" y="4572000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525500" y="46196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0" y="50863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históricos / frescura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25500" y="6667500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25500" y="6715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25500" y="7181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Trazabilidad por celda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621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PRUEBAS AUTOMÁTICAS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14446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COBERTURA DE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157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9271" y="4248150"/>
            <a:ext cx="28771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SMOKE 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744096" y="4248150"/>
            <a:ext cx="2877154" cy="3709062"/>
            <a:chOff x="0" y="0"/>
            <a:chExt cx="3836205" cy="494541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3836205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DE VALIDEZ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01811"/>
              <a:ext cx="3836205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pesar de las pruebas exitosas, se debe destacar que la validación científica del modelo no se establece solo por la aprobación de las pruebas.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61122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657225"/>
            <a:ext cx="9762521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</a:pPr>
            <a:r>
              <a:rPr lang="en-US" sz="6737" spc="-134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Evidencia Técnica: Pruebas y Cobertura de Código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022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470/470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022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pruebas exitosas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15050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91,72%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5050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cobertura app + src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2987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987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smoke test Streamlit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52575"/>
            <a:ext cx="832485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7000" spc="-140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Trazabilidad y Calidad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619500"/>
            <a:ext cx="8191500" cy="2476500"/>
            <a:chOff x="0" y="0"/>
            <a:chExt cx="10922000" cy="330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29750" y="3619500"/>
            <a:ext cx="8191500" cy="2476500"/>
            <a:chOff x="0" y="0"/>
            <a:chExt cx="10922000" cy="330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477000"/>
            <a:ext cx="8191500" cy="1905000"/>
            <a:chOff x="0" y="0"/>
            <a:chExt cx="10922000" cy="254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9750" y="6477000"/>
            <a:ext cx="8191500" cy="1905000"/>
            <a:chOff x="0" y="0"/>
            <a:chExt cx="10922000" cy="254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52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TRAZABILIDAD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324350"/>
            <a:ext cx="762000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10 tickets Jira auditados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CA históricos completos: 6/10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7 REQ temporales sin HU Jira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CALIDAD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4324350"/>
            <a:ext cx="7620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 verificados · 4 parciales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 no verificados · 1 no aplica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RIESGOS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23 identificados y clasificados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68 commits · tag Sprint 1 verificado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657600"/>
            <a:ext cx="6886575" cy="2926080"/>
            <a:chOff x="0" y="0"/>
            <a:chExt cx="9182100" cy="39014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FORTALEZAS TÉCNICAS DEL PROYECTO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Pipeline temporal causal implementado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Uso de datos reales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Prototipo funcional desarrollado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470/470 pruebas automáticas exitosas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Arquitectura del sistema verificable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657600"/>
            <a:ext cx="6886575" cy="3345180"/>
            <a:chOff x="0" y="0"/>
            <a:chExt cx="9182100" cy="44602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BRECHAS EN LA GESTIÓN DEL SPRINT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331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Goal histórico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Definition of Done previa al desarrollo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evidencia de seguimiento/revisión semanal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Review formal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aceptación externa de los entregables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Cierre de Sprint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7810500"/>
            <a:ext cx="16954500" cy="762000"/>
            <a:chOff x="0" y="0"/>
            <a:chExt cx="22606000" cy="10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6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802005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NO SE RECONSTRUYÓ EVIDENCIA RETROACTIVAMENTE.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10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Base Técnica Verificable para Sprint 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8324850" cy="3465218"/>
            <a:chOff x="0" y="0"/>
            <a:chExt cx="11099800" cy="462029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REALES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67135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NASA FIRMS · DMC 330007 · Copernicus DEM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47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PIPELINE CAUSAL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57810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Features ≤ T → ranking de 50 celdas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0515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EXPLÍCITAS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48486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Score relativo, no alerta oficial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6750" y="8896350"/>
            <a:ext cx="11201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S.A.P.I. prioriza riesgo relativo; no reemplaza una alerta oficial.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9467850"/>
            <a:ext cx="2857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DEMO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S.A.P.I. — Sistema de Alerta y Priorización</dc:description>
  <dc:identifier>DAHUkB2w4Zg</dc:identifier>
  <dcterms:modified xsi:type="dcterms:W3CDTF">2011-08-01T06:04:30Z</dcterms:modified>
  <cp:revision>1</cp:revision>
  <dc:title>Presentación - S.A.P.I. — Sistema de Alerta y Priorización</dc:title>
</cp:coreProperties>
</file>