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Tenor Sans" charset="1" panose="02000000000000000000"/>
      <p:regular r:id="rId17"/>
    </p:embeddedFont>
    <p:embeddedFont>
      <p:font typeface="Clear Sans" charset="1" panose="020B0503030202020304"/>
      <p:regular r:id="rId18"/>
    </p:embeddedFont>
    <p:embeddedFont>
      <p:font typeface="Arimo Bold" charset="1" panose="020B0704020202020204"/>
      <p:regular r:id="rId19"/>
    </p:embeddedFont>
    <p:embeddedFont>
      <p:font typeface="Arimo" charset="1" panose="020B0604020202020204"/>
      <p:regular r:id="rId20"/>
    </p:embeddedFont>
    <p:embeddedFont>
      <p:font typeface="Arimo Italics" charset="1" panose="020B0604020202090204"/>
      <p:regular r:id="rId21"/>
    </p:embeddedFont>
    <p:embeddedFont>
      <p:font typeface="Clear Sans Medium" charset="1" panose="020B0603030202020304"/>
      <p:regular r:id="rId22"/>
    </p:embeddedFont>
    <p:embeddedFont>
      <p:font typeface="Clear Sans Bold" charset="1" panose="020B0803030202020304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428750"/>
            <a:ext cx="9763125" cy="4003594"/>
            <a:chOff x="0" y="0"/>
            <a:chExt cx="13017500" cy="5338125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3017500" cy="1809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  <a:spcBef>
                  <a:spcPct val="0"/>
                </a:spcBef>
              </a:pPr>
              <a:r>
                <a:rPr lang="en-US" sz="9750" spc="-195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S.A.P.I.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4641850"/>
              <a:ext cx="13017500" cy="69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480"/>
                </a:lnSpc>
                <a:spcBef>
                  <a:spcPct val="0"/>
                </a:spcBef>
              </a:pPr>
              <a:r>
                <a:rPr lang="en-US" sz="3200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DANIEL GONZALO CORTEZ FIERRO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4124325"/>
            <a:ext cx="9763125" cy="499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28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Hito 1 · Sprint 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5657850"/>
            <a:ext cx="9763125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Universidad Andrés Bello · INSW421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304800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Sistema de Alerta y Priorización de Riesgo de Incendios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562100"/>
            <a:ext cx="9763125" cy="2228706"/>
            <a:chOff x="0" y="0"/>
            <a:chExt cx="13017500" cy="2971607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0"/>
              <a:ext cx="13017500" cy="1409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399"/>
                </a:lnSpc>
                <a:spcBef>
                  <a:spcPct val="0"/>
                </a:spcBef>
              </a:pPr>
              <a:r>
                <a:rPr lang="en-US" sz="6999" spc="-139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Problema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441575"/>
              <a:ext cx="130175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INFORMACIÓN Y DATOS REALES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5105400"/>
            <a:ext cx="9763125" cy="7886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¿Dónde conviene priorizar la atención utilizando información disponible antes de una ventana futura?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64198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  <a:r>
              <a:rPr lang="en-US" sz="1950" strike="noStrike" u="none">
                <a:solidFill>
                  <a:srgbClr val="315E56"/>
                </a:solidFill>
                <a:latin typeface="Arimo"/>
                <a:ea typeface="Arimo"/>
                <a:cs typeface="Arimo"/>
                <a:sym typeface="Arimo"/>
              </a:rPr>
              <a:t>Corredor Viña del Mar · Quilpué · Villa Alemana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953750" y="1847850"/>
            <a:ext cx="6667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VIÑA DEL MAR — QUILPUÉ — VILLA ALEMANA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53750" y="2800350"/>
            <a:ext cx="6667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GRILLA · 50 CELDAS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53750" y="6619875"/>
            <a:ext cx="6667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NASA FIRMS · DMC 330007 · Copernicus DEM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4258925" y="2381250"/>
            <a:ext cx="57150" cy="381000"/>
            <a:chOff x="0" y="0"/>
            <a:chExt cx="76200" cy="508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6200" cy="508000"/>
            </a:xfrm>
            <a:custGeom>
              <a:avLst/>
              <a:gdLst/>
              <a:ahLst/>
              <a:cxnLst/>
              <a:rect r="r" b="b" t="t" l="l"/>
              <a:pathLst>
                <a:path h="508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508000"/>
                  </a:lnTo>
                  <a:lnTo>
                    <a:pt x="0" y="508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76200" cy="54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430000" y="3429000"/>
            <a:ext cx="19050" cy="2857500"/>
            <a:chOff x="0" y="0"/>
            <a:chExt cx="25400" cy="381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001500" y="3429000"/>
            <a:ext cx="19050" cy="2857500"/>
            <a:chOff x="0" y="0"/>
            <a:chExt cx="25400" cy="3810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573000" y="3429000"/>
            <a:ext cx="19050" cy="2857500"/>
            <a:chOff x="0" y="0"/>
            <a:chExt cx="25400" cy="3810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3144500" y="3429000"/>
            <a:ext cx="19050" cy="2857500"/>
            <a:chOff x="0" y="0"/>
            <a:chExt cx="25400" cy="3810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0" y="3429000"/>
            <a:ext cx="19050" cy="2857500"/>
            <a:chOff x="0" y="0"/>
            <a:chExt cx="25400" cy="38100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4287500" y="3429000"/>
            <a:ext cx="19050" cy="2857500"/>
            <a:chOff x="0" y="0"/>
            <a:chExt cx="25400" cy="38100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1" id="31"/>
          <p:cNvGrpSpPr/>
          <p:nvPr/>
        </p:nvGrpSpPr>
        <p:grpSpPr>
          <a:xfrm rot="0">
            <a:off x="14859000" y="3429000"/>
            <a:ext cx="19050" cy="2857500"/>
            <a:chOff x="0" y="0"/>
            <a:chExt cx="25400" cy="3810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5430500" y="3429000"/>
            <a:ext cx="19050" cy="2857500"/>
            <a:chOff x="0" y="0"/>
            <a:chExt cx="25400" cy="3810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6002000" y="3429000"/>
            <a:ext cx="19050" cy="2857500"/>
            <a:chOff x="0" y="0"/>
            <a:chExt cx="25400" cy="381000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16573500" y="3429000"/>
            <a:ext cx="19050" cy="2857500"/>
            <a:chOff x="0" y="0"/>
            <a:chExt cx="25400" cy="38100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7145000" y="3429000"/>
            <a:ext cx="19050" cy="2857500"/>
            <a:chOff x="0" y="0"/>
            <a:chExt cx="25400" cy="38100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5400" cy="3810000"/>
            </a:xfrm>
            <a:custGeom>
              <a:avLst/>
              <a:gdLst/>
              <a:ahLst/>
              <a:cxnLst/>
              <a:rect r="r" b="b" t="t" l="l"/>
              <a:pathLst>
                <a:path h="3810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3810000"/>
                  </a:lnTo>
                  <a:lnTo>
                    <a:pt x="0" y="3810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25400" cy="384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11430000" y="3429000"/>
            <a:ext cx="5715000" cy="19050"/>
            <a:chOff x="0" y="0"/>
            <a:chExt cx="7620000" cy="2540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11430000" y="4000500"/>
            <a:ext cx="5715000" cy="19050"/>
            <a:chOff x="0" y="0"/>
            <a:chExt cx="7620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2" id="52"/>
          <p:cNvGrpSpPr/>
          <p:nvPr/>
        </p:nvGrpSpPr>
        <p:grpSpPr>
          <a:xfrm rot="0">
            <a:off x="11430000" y="4572000"/>
            <a:ext cx="5715000" cy="19050"/>
            <a:chOff x="0" y="0"/>
            <a:chExt cx="7620000" cy="254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1430000" y="5143500"/>
            <a:ext cx="5715000" cy="19050"/>
            <a:chOff x="0" y="0"/>
            <a:chExt cx="7620000" cy="2540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8" id="58"/>
          <p:cNvGrpSpPr/>
          <p:nvPr/>
        </p:nvGrpSpPr>
        <p:grpSpPr>
          <a:xfrm rot="0">
            <a:off x="11430000" y="5715000"/>
            <a:ext cx="5715000" cy="19050"/>
            <a:chOff x="0" y="0"/>
            <a:chExt cx="7620000" cy="25400"/>
          </a:xfrm>
        </p:grpSpPr>
        <p:sp>
          <p:nvSpPr>
            <p:cNvPr name="Freeform 59" id="59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0" id="60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1" id="61"/>
          <p:cNvGrpSpPr/>
          <p:nvPr/>
        </p:nvGrpSpPr>
        <p:grpSpPr>
          <a:xfrm rot="0">
            <a:off x="11430000" y="6286500"/>
            <a:ext cx="5715000" cy="19050"/>
            <a:chOff x="0" y="0"/>
            <a:chExt cx="7620000" cy="25400"/>
          </a:xfrm>
        </p:grpSpPr>
        <p:sp>
          <p:nvSpPr>
            <p:cNvPr name="Freeform 62" id="62"/>
            <p:cNvSpPr/>
            <p:nvPr/>
          </p:nvSpPr>
          <p:spPr>
            <a:xfrm flipH="false" flipV="false" rot="0">
              <a:off x="0" y="0"/>
              <a:ext cx="7620000" cy="25400"/>
            </a:xfrm>
            <a:custGeom>
              <a:avLst/>
              <a:gdLst/>
              <a:ahLst/>
              <a:cxnLst/>
              <a:rect r="r" b="b" t="t" l="l"/>
              <a:pathLst>
                <a:path h="25400" w="7620000">
                  <a:moveTo>
                    <a:pt x="0" y="0"/>
                  </a:moveTo>
                  <a:lnTo>
                    <a:pt x="7620000" y="0"/>
                  </a:lnTo>
                  <a:lnTo>
                    <a:pt x="7620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3" id="63"/>
            <p:cNvSpPr txBox="true"/>
            <p:nvPr/>
          </p:nvSpPr>
          <p:spPr>
            <a:xfrm>
              <a:off x="0" y="-38100"/>
              <a:ext cx="7620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4" id="64"/>
          <p:cNvSpPr txBox="true"/>
          <p:nvPr/>
        </p:nvSpPr>
        <p:spPr>
          <a:xfrm rot="0">
            <a:off x="666750" y="2571750"/>
            <a:ext cx="9763125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propuesta</a:t>
            </a:r>
          </a:p>
        </p:txBody>
      </p:sp>
      <p:grpSp>
        <p:nvGrpSpPr>
          <p:cNvPr name="Group 65" id="6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66" id="6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67" id="6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8" id="6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001125" y="3762375"/>
            <a:ext cx="3333750" cy="1857375"/>
            <a:chOff x="0" y="0"/>
            <a:chExt cx="4445000" cy="2476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445000" cy="2476500"/>
            </a:xfrm>
            <a:custGeom>
              <a:avLst/>
              <a:gdLst/>
              <a:ahLst/>
              <a:cxnLst/>
              <a:rect r="r" b="b" t="t" l="l"/>
              <a:pathLst>
                <a:path h="2476500" w="4445000">
                  <a:moveTo>
                    <a:pt x="46446" y="0"/>
                  </a:moveTo>
                  <a:lnTo>
                    <a:pt x="4398554" y="0"/>
                  </a:lnTo>
                  <a:cubicBezTo>
                    <a:pt x="4424206" y="0"/>
                    <a:pt x="4445000" y="20794"/>
                    <a:pt x="4445000" y="46446"/>
                  </a:cubicBezTo>
                  <a:lnTo>
                    <a:pt x="4445000" y="2430054"/>
                  </a:lnTo>
                  <a:cubicBezTo>
                    <a:pt x="4445000" y="2455706"/>
                    <a:pt x="4424206" y="2476500"/>
                    <a:pt x="4398554" y="2476500"/>
                  </a:cubicBezTo>
                  <a:lnTo>
                    <a:pt x="46446" y="2476500"/>
                  </a:lnTo>
                  <a:cubicBezTo>
                    <a:pt x="20794" y="2476500"/>
                    <a:pt x="0" y="2455706"/>
                    <a:pt x="0" y="2430054"/>
                  </a:cubicBezTo>
                  <a:lnTo>
                    <a:pt x="0" y="46446"/>
                  </a:lnTo>
                  <a:cubicBezTo>
                    <a:pt x="0" y="20794"/>
                    <a:pt x="20794" y="0"/>
                    <a:pt x="46446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445000" cy="2514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Entregas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363.000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667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filas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530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7.260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530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instantes 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3925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23925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  <a:r>
              <a:rPr lang="en-US" sz="1800" strike="noStrike" u="none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filas con target positivo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25500" y="3876675"/>
            <a:ext cx="3810000" cy="899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39"/>
              </a:lnSpc>
            </a:pPr>
            <a:r>
              <a:rPr lang="en-US" sz="51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4800600"/>
            <a:ext cx="38100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celdas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66750" y="6229350"/>
            <a:ext cx="169545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reales → pipeline temporal causal → ranking exploratorio → prototipo GIS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6896100"/>
            <a:ext cx="1695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No es un sistema operacional.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66750" y="2571750"/>
            <a:ext cx="832485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Hito 1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333750" y="8239125"/>
            <a:ext cx="5905500" cy="523875"/>
            <a:chOff x="0" y="0"/>
            <a:chExt cx="7874000" cy="6985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333750" y="7477125"/>
            <a:ext cx="5905500" cy="523875"/>
            <a:chOff x="0" y="0"/>
            <a:chExt cx="7874000" cy="6985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3333750" y="6715125"/>
            <a:ext cx="5905500" cy="523875"/>
            <a:chOff x="0" y="0"/>
            <a:chExt cx="7874000" cy="6985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333750" y="5953125"/>
            <a:ext cx="5905500" cy="523875"/>
            <a:chOff x="0" y="0"/>
            <a:chExt cx="7874000" cy="6985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3333750" y="5191125"/>
            <a:ext cx="5905500" cy="523875"/>
            <a:chOff x="0" y="0"/>
            <a:chExt cx="7874000" cy="6985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874000" cy="698500"/>
            </a:xfrm>
            <a:custGeom>
              <a:avLst/>
              <a:gdLst/>
              <a:ahLst/>
              <a:cxnLst/>
              <a:rect r="r" b="b" t="t" l="l"/>
              <a:pathLst>
                <a:path h="6985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674903"/>
                  </a:lnTo>
                  <a:cubicBezTo>
                    <a:pt x="7874000" y="687935"/>
                    <a:pt x="7863435" y="698500"/>
                    <a:pt x="7850402" y="698500"/>
                  </a:cubicBezTo>
                  <a:lnTo>
                    <a:pt x="23597" y="698500"/>
                  </a:lnTo>
                  <a:cubicBezTo>
                    <a:pt x="10565" y="698500"/>
                    <a:pt x="0" y="687935"/>
                    <a:pt x="0" y="6749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7874000" cy="736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333750" y="4095750"/>
            <a:ext cx="5905500" cy="857250"/>
            <a:chOff x="0" y="0"/>
            <a:chExt cx="7874000" cy="1143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874000" cy="1143000"/>
            </a:xfrm>
            <a:custGeom>
              <a:avLst/>
              <a:gdLst/>
              <a:ahLst/>
              <a:cxnLst/>
              <a:rect r="r" b="b" t="t" l="l"/>
              <a:pathLst>
                <a:path h="1143000" w="7874000">
                  <a:moveTo>
                    <a:pt x="23597" y="0"/>
                  </a:moveTo>
                  <a:lnTo>
                    <a:pt x="7850402" y="0"/>
                  </a:lnTo>
                  <a:cubicBezTo>
                    <a:pt x="7863435" y="0"/>
                    <a:pt x="7874000" y="10565"/>
                    <a:pt x="7874000" y="23597"/>
                  </a:cubicBezTo>
                  <a:lnTo>
                    <a:pt x="7874000" y="1119403"/>
                  </a:lnTo>
                  <a:cubicBezTo>
                    <a:pt x="7874000" y="1132435"/>
                    <a:pt x="7863435" y="1143000"/>
                    <a:pt x="7850402" y="1143000"/>
                  </a:cubicBezTo>
                  <a:lnTo>
                    <a:pt x="23597" y="1143000"/>
                  </a:lnTo>
                  <a:cubicBezTo>
                    <a:pt x="10565" y="1143000"/>
                    <a:pt x="0" y="1132435"/>
                    <a:pt x="0" y="1119403"/>
                  </a:cubicBezTo>
                  <a:lnTo>
                    <a:pt x="0" y="23597"/>
                  </a:lnTo>
                  <a:cubicBezTo>
                    <a:pt x="0" y="10565"/>
                    <a:pt x="10565" y="0"/>
                    <a:pt x="23597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38100"/>
              <a:ext cx="7874000" cy="118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666750" y="1562086"/>
            <a:ext cx="832485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Arquitectura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734675" y="3352794"/>
            <a:ext cx="5448300" cy="4797448"/>
            <a:chOff x="0" y="0"/>
            <a:chExt cx="7264400" cy="6396598"/>
          </a:xfrm>
        </p:grpSpPr>
        <p:sp>
          <p:nvSpPr>
            <p:cNvPr name="TextBox 22" id="22"/>
            <p:cNvSpPr txBox="true"/>
            <p:nvPr/>
          </p:nvSpPr>
          <p:spPr>
            <a:xfrm rot="0">
              <a:off x="0" y="-47625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FLUJO DE DATOS</a:t>
              </a:r>
            </a:p>
          </p:txBody>
        </p:sp>
        <p:sp>
          <p:nvSpPr>
            <p:cNvPr name="TextBox 23" id="23"/>
            <p:cNvSpPr txBox="true"/>
            <p:nvPr/>
          </p:nvSpPr>
          <p:spPr>
            <a:xfrm rot="0">
              <a:off x="0" y="878058"/>
              <a:ext cx="7264400" cy="193715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sistema integra tres fuentes reales (NASA FIRMS, DMC 330007, Copernicus DEM) mediante procesamiento temporal y espacial causal.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0" y="4023921"/>
              <a:ext cx="7264400" cy="53003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6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Medium"/>
                  <a:ea typeface="Clear Sans Medium"/>
                  <a:cs typeface="Clear Sans Medium"/>
                  <a:sym typeface="Clear Sans Medium"/>
                </a:rPr>
                <a:t>MODELO Y RANKING</a:t>
              </a:r>
            </a:p>
          </p:txBody>
        </p:sp>
        <p:sp>
          <p:nvSpPr>
            <p:cNvPr name="TextBox 25" id="25"/>
            <p:cNvSpPr txBox="true"/>
            <p:nvPr/>
          </p:nvSpPr>
          <p:spPr>
            <a:xfrm rot="0">
              <a:off x="0" y="4949603"/>
              <a:ext cx="72644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El dataset temporal alimenta el Modelo D, que produce un ranking relativo de las 50 celdas — nunca una probabilidad.</a:t>
              </a: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3524250" y="4152900"/>
            <a:ext cx="5524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NASA FIRMS · DMC 330007 · Copernicus DEM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524250" y="4572000"/>
            <a:ext cx="552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DMC = meteorología REGIONAL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6267450" y="4953000"/>
            <a:ext cx="38100" cy="238125"/>
            <a:chOff x="0" y="0"/>
            <a:chExt cx="50800" cy="31750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3524250" y="5276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Procesamiento temporal / espacial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6267450" y="5715000"/>
            <a:ext cx="38100" cy="238125"/>
            <a:chOff x="0" y="0"/>
            <a:chExt cx="50800" cy="3175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3524250" y="6038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Dataset temporal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267450" y="6477000"/>
            <a:ext cx="38100" cy="238125"/>
            <a:chOff x="0" y="0"/>
            <a:chExt cx="50800" cy="3175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3524250" y="6800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Modelo D → score_current_grid()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6267450" y="7239000"/>
            <a:ext cx="38100" cy="238125"/>
            <a:chOff x="0" y="0"/>
            <a:chExt cx="50800" cy="3175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3524250" y="7562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(50 celdas, con empates)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6267450" y="8001000"/>
            <a:ext cx="38100" cy="238125"/>
            <a:chOff x="0" y="0"/>
            <a:chExt cx="50800" cy="3175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50800" cy="317500"/>
            </a:xfrm>
            <a:custGeom>
              <a:avLst/>
              <a:gdLst/>
              <a:ahLst/>
              <a:cxnLst/>
              <a:rect r="r" b="b" t="t" l="l"/>
              <a:pathLst>
                <a:path h="317500" w="50800">
                  <a:moveTo>
                    <a:pt x="0" y="0"/>
                  </a:moveTo>
                  <a:lnTo>
                    <a:pt x="50800" y="0"/>
                  </a:lnTo>
                  <a:lnTo>
                    <a:pt x="50800" y="317500"/>
                  </a:lnTo>
                  <a:lnTo>
                    <a:pt x="0" y="3175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50800" cy="355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3524250" y="8324850"/>
            <a:ext cx="5524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Dashboard Streamlit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666750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del Sistema S.A.P.I.</a:t>
            </a:r>
          </a:p>
        </p:txBody>
      </p:sp>
      <p:grpSp>
        <p:nvGrpSpPr>
          <p:cNvPr name="Group 49" id="49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2" id="52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858125" y="1562100"/>
            <a:ext cx="9763125" cy="2740436"/>
            <a:chOff x="0" y="0"/>
            <a:chExt cx="13017500" cy="3653914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19050"/>
              <a:ext cx="13017500" cy="11923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7019"/>
                </a:lnSpc>
                <a:spcBef>
                  <a:spcPct val="0"/>
                </a:spcBef>
              </a:pPr>
              <a:r>
                <a:rPr lang="en-US" sz="5849" spc="-116" strike="noStrike" u="none">
                  <a:solidFill>
                    <a:srgbClr val="20282A"/>
                  </a:solidFill>
                  <a:latin typeface="Tenor Sans"/>
                  <a:ea typeface="Tenor Sans"/>
                  <a:cs typeface="Tenor Sans"/>
                  <a:sym typeface="Tenor Sans"/>
                </a:rPr>
                <a:t>Causalidad temporal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2206920"/>
              <a:ext cx="13017500" cy="144699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  <a:spcBef>
                  <a:spcPct val="0"/>
                </a:spcBef>
              </a:pPr>
              <a:r>
                <a:rPr lang="en-US" sz="20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Todo feature usado tiene timestamp menor o igual a T. El target es si existe una detección FIRMS válida en la ventana futura T &lt; t ≤ T+6h — nunca se usa información posterior a T para construir un feature.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858125" y="6229350"/>
            <a:ext cx="9763125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(cell_id, T) → ¿detección FIRMS válida en T &lt; t ≤ T+6h?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858125" y="7181850"/>
            <a:ext cx="9763125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Causalidad temporal · Cooldown · FIRMS ≠ incendio confirmado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3028950" y="1714500"/>
            <a:ext cx="57150" cy="6667500"/>
            <a:chOff x="0" y="0"/>
            <a:chExt cx="76200" cy="889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76200" cy="8890000"/>
            </a:xfrm>
            <a:custGeom>
              <a:avLst/>
              <a:gdLst/>
              <a:ahLst/>
              <a:cxnLst/>
              <a:rect r="r" b="b" t="t" l="l"/>
              <a:pathLst>
                <a:path h="8890000" w="76200">
                  <a:moveTo>
                    <a:pt x="0" y="0"/>
                  </a:moveTo>
                  <a:lnTo>
                    <a:pt x="76200" y="0"/>
                  </a:lnTo>
                  <a:lnTo>
                    <a:pt x="76200" y="8890000"/>
                  </a:lnTo>
                  <a:lnTo>
                    <a:pt x="0" y="8890000"/>
                  </a:lnTo>
                  <a:close/>
                </a:path>
              </a:pathLst>
            </a:custGeom>
            <a:solidFill>
              <a:srgbClr val="667276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76200" cy="892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486025" y="4953000"/>
            <a:ext cx="1143000" cy="1619250"/>
            <a:chOff x="0" y="0"/>
            <a:chExt cx="1524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52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524000">
                  <a:moveTo>
                    <a:pt x="0" y="0"/>
                  </a:moveTo>
                  <a:lnTo>
                    <a:pt x="1524000" y="0"/>
                  </a:lnTo>
                  <a:lnTo>
                    <a:pt x="1524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52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809875" y="4705350"/>
            <a:ext cx="495300" cy="495300"/>
            <a:chOff x="0" y="0"/>
            <a:chExt cx="660400" cy="6604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60400" cy="660400"/>
            </a:xfrm>
            <a:custGeom>
              <a:avLst/>
              <a:gdLst/>
              <a:ahLst/>
              <a:cxnLst/>
              <a:rect r="r" b="b" t="t" l="l"/>
              <a:pathLst>
                <a:path h="660400" w="660400">
                  <a:moveTo>
                    <a:pt x="330200" y="0"/>
                  </a:moveTo>
                  <a:cubicBezTo>
                    <a:pt x="512564" y="0"/>
                    <a:pt x="660400" y="147836"/>
                    <a:pt x="660400" y="330200"/>
                  </a:cubicBezTo>
                  <a:cubicBezTo>
                    <a:pt x="660400" y="512564"/>
                    <a:pt x="512564" y="660400"/>
                    <a:pt x="330200" y="660400"/>
                  </a:cubicBezTo>
                  <a:cubicBezTo>
                    <a:pt x="147836" y="660400"/>
                    <a:pt x="0" y="512564"/>
                    <a:pt x="0" y="330200"/>
                  </a:cubicBezTo>
                  <a:cubicBezTo>
                    <a:pt x="0" y="147836"/>
                    <a:pt x="147836" y="0"/>
                    <a:pt x="3302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857250" y="213360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PASADO / PRESENTE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57250" y="2619375"/>
            <a:ext cx="4381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features ≤ 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8050" y="4657725"/>
            <a:ext cx="57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6800850"/>
            <a:ext cx="43815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667276"/>
                </a:solidFill>
                <a:latin typeface="Arimo Bold"/>
                <a:ea typeface="Arimo Bold"/>
                <a:cs typeface="Arimo Bold"/>
                <a:sym typeface="Arimo Bold"/>
              </a:rPr>
              <a:t>FUTURO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57250" y="7229475"/>
            <a:ext cx="4381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 &lt; t ≤ T+6h — target FIRMS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858125" y="2686050"/>
            <a:ext cx="9763125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sin mirar el futuro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573250" y="3333750"/>
            <a:ext cx="3048000" cy="1619250"/>
            <a:chOff x="0" y="0"/>
            <a:chExt cx="4064000" cy="2159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096625" y="3333750"/>
            <a:ext cx="3048000" cy="1619250"/>
            <a:chOff x="0" y="0"/>
            <a:chExt cx="4064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620000" y="3333750"/>
            <a:ext cx="3048000" cy="1619250"/>
            <a:chOff x="0" y="0"/>
            <a:chExt cx="4064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143375" y="3333750"/>
            <a:ext cx="3048000" cy="1619250"/>
            <a:chOff x="0" y="0"/>
            <a:chExt cx="4064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66750" y="3333750"/>
            <a:ext cx="3048000" cy="1619250"/>
            <a:chOff x="0" y="0"/>
            <a:chExt cx="4064000" cy="2159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064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4064000">
                  <a:moveTo>
                    <a:pt x="45720" y="0"/>
                  </a:moveTo>
                  <a:lnTo>
                    <a:pt x="4018280" y="0"/>
                  </a:lnTo>
                  <a:cubicBezTo>
                    <a:pt x="4030406" y="0"/>
                    <a:pt x="4042035" y="4817"/>
                    <a:pt x="4050609" y="13391"/>
                  </a:cubicBezTo>
                  <a:cubicBezTo>
                    <a:pt x="4059183" y="21965"/>
                    <a:pt x="4064000" y="33594"/>
                    <a:pt x="4064000" y="45720"/>
                  </a:cubicBezTo>
                  <a:lnTo>
                    <a:pt x="4064000" y="2113280"/>
                  </a:lnTo>
                  <a:cubicBezTo>
                    <a:pt x="4064000" y="2138531"/>
                    <a:pt x="4043530" y="2159000"/>
                    <a:pt x="4018280" y="2159000"/>
                  </a:cubicBezTo>
                  <a:lnTo>
                    <a:pt x="45720" y="2159000"/>
                  </a:lnTo>
                  <a:cubicBezTo>
                    <a:pt x="20470" y="2159000"/>
                    <a:pt x="0" y="2138531"/>
                    <a:pt x="0" y="2113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064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Validación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572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NO ENTRENABLE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33387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2023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33387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81050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2024*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7810500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ADECUADO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1287125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2025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125" y="4076700"/>
            <a:ext cx="2667000" cy="2495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5"/>
              </a:lnSpc>
            </a:pPr>
            <a:r>
              <a:rPr lang="en-US" sz="142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763750" y="3467100"/>
            <a:ext cx="26670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2026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4763750" y="4076700"/>
            <a:ext cx="2667000" cy="224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84"/>
              </a:lnSpc>
            </a:pPr>
            <a:r>
              <a:rPr lang="en-US" sz="1275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LIMITADO / PARCIAL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66750" y="5562600"/>
            <a:ext cx="16954500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Evidencia exploratoria; no generalización predictiva demostrada.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66750" y="6238875"/>
            <a:ext cx="16954500" cy="276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* 2024 coincide con el megaevento del 03-02-2024.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limitación científica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1905000"/>
            <a:ext cx="12382500" cy="6962775"/>
            <a:chOff x="0" y="0"/>
            <a:chExt cx="16510000" cy="92837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6510000" cy="9283700"/>
            </a:xfrm>
            <a:custGeom>
              <a:avLst/>
              <a:gdLst/>
              <a:ahLst/>
              <a:cxnLst/>
              <a:rect r="r" b="b" t="t" l="l"/>
              <a:pathLst>
                <a:path h="9283700" w="16510000">
                  <a:moveTo>
                    <a:pt x="15006" y="0"/>
                  </a:moveTo>
                  <a:lnTo>
                    <a:pt x="16494995" y="0"/>
                  </a:lnTo>
                  <a:cubicBezTo>
                    <a:pt x="16498974" y="0"/>
                    <a:pt x="16502791" y="1581"/>
                    <a:pt x="16505605" y="4395"/>
                  </a:cubicBezTo>
                  <a:cubicBezTo>
                    <a:pt x="16508419" y="7209"/>
                    <a:pt x="16510000" y="11026"/>
                    <a:pt x="16510000" y="15006"/>
                  </a:cubicBezTo>
                  <a:lnTo>
                    <a:pt x="16510000" y="9268695"/>
                  </a:lnTo>
                  <a:cubicBezTo>
                    <a:pt x="16510000" y="9272674"/>
                    <a:pt x="16508419" y="9276491"/>
                    <a:pt x="16505605" y="9279305"/>
                  </a:cubicBezTo>
                  <a:cubicBezTo>
                    <a:pt x="16502791" y="9282119"/>
                    <a:pt x="16498974" y="9283700"/>
                    <a:pt x="16494995" y="9283700"/>
                  </a:cubicBezTo>
                  <a:lnTo>
                    <a:pt x="15006" y="9283700"/>
                  </a:lnTo>
                  <a:cubicBezTo>
                    <a:pt x="11026" y="9283700"/>
                    <a:pt x="7209" y="9282119"/>
                    <a:pt x="4395" y="9279305"/>
                  </a:cubicBezTo>
                  <a:cubicBezTo>
                    <a:pt x="1581" y="9276491"/>
                    <a:pt x="0" y="9272674"/>
                    <a:pt x="0" y="9268695"/>
                  </a:cubicBezTo>
                  <a:lnTo>
                    <a:pt x="0" y="15006"/>
                  </a:lnTo>
                  <a:cubicBezTo>
                    <a:pt x="0" y="11026"/>
                    <a:pt x="1581" y="7209"/>
                    <a:pt x="4395" y="4395"/>
                  </a:cubicBezTo>
                  <a:cubicBezTo>
                    <a:pt x="7209" y="1581"/>
                    <a:pt x="11026" y="0"/>
                    <a:pt x="15006" y="0"/>
                  </a:cubicBezTo>
                  <a:close/>
                </a:path>
              </a:pathLst>
            </a:custGeom>
            <a:solidFill>
              <a:srgbClr val="DCE7E2"/>
            </a:solidFill>
            <a:ln w="28575" cap="rnd">
              <a:solidFill>
                <a:srgbClr val="667276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6510000" cy="9321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857250"/>
            <a:ext cx="16954500" cy="8484870"/>
            <a:chOff x="0" y="0"/>
            <a:chExt cx="22606000" cy="1131316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0893425"/>
              <a:ext cx="22606000" cy="4197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29"/>
                </a:lnSpc>
                <a:spcBef>
                  <a:spcPct val="0"/>
                </a:spcBef>
              </a:pPr>
              <a:r>
                <a:rPr lang="en-US" b="true" sz="1950" strike="noStrike" u="none">
                  <a:solidFill>
                    <a:srgbClr val="315E56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Score relativo exploratorio ≠ probabilidad calibrada.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9525"/>
              <a:ext cx="22606000" cy="73342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320"/>
                </a:lnSpc>
                <a:spcBef>
                  <a:spcPct val="0"/>
                </a:spcBef>
              </a:pPr>
              <a:r>
                <a:rPr lang="en-US" b="true" sz="36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PROTOTIPO</a:t>
              </a: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19250" y="5133975"/>
            <a:ext cx="10477500" cy="440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INSERTAR CAPTURA REAL DEL DASHBOARD S.A.P.I.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3525500" y="2476500"/>
            <a:ext cx="457200" cy="457200"/>
            <a:chOff x="0" y="0"/>
            <a:chExt cx="609600" cy="609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3525500" y="2524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525500" y="2990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Ranking relativo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3525500" y="4572000"/>
            <a:ext cx="457200" cy="457200"/>
            <a:chOff x="0" y="0"/>
            <a:chExt cx="609600" cy="609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525500" y="46196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3525500" y="50863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Datos históricos / frescura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3525500" y="6667500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315E5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3525500" y="6715125"/>
            <a:ext cx="4572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10"/>
              </a:lnSpc>
            </a:pPr>
            <a:r>
              <a:rPr lang="en-US" sz="165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525500" y="7181850"/>
            <a:ext cx="400050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Trazabilidad por celda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6750" y="1362075"/>
            <a:ext cx="16954500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funcional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78000" y="4095750"/>
            <a:ext cx="3143250" cy="4000500"/>
            <a:chOff x="0" y="0"/>
            <a:chExt cx="4191000" cy="533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191000" cy="5334000"/>
            </a:xfrm>
            <a:custGeom>
              <a:avLst/>
              <a:gdLst/>
              <a:ahLst/>
              <a:cxnLst/>
              <a:rect r="r" b="b" t="t" l="l"/>
              <a:pathLst>
                <a:path h="5334000" w="4191000">
                  <a:moveTo>
                    <a:pt x="49261" y="0"/>
                  </a:moveTo>
                  <a:lnTo>
                    <a:pt x="4141739" y="0"/>
                  </a:lnTo>
                  <a:cubicBezTo>
                    <a:pt x="4168945" y="0"/>
                    <a:pt x="4191000" y="22055"/>
                    <a:pt x="4191000" y="49261"/>
                  </a:cubicBezTo>
                  <a:lnTo>
                    <a:pt x="4191000" y="5284739"/>
                  </a:lnTo>
                  <a:cubicBezTo>
                    <a:pt x="4191000" y="5311945"/>
                    <a:pt x="4168945" y="5334000"/>
                    <a:pt x="4141739" y="5334000"/>
                  </a:cubicBezTo>
                  <a:lnTo>
                    <a:pt x="49261" y="5334000"/>
                  </a:lnTo>
                  <a:cubicBezTo>
                    <a:pt x="22055" y="5334000"/>
                    <a:pt x="0" y="5311945"/>
                    <a:pt x="0" y="5284739"/>
                  </a:cubicBezTo>
                  <a:lnTo>
                    <a:pt x="0" y="49261"/>
                  </a:lnTo>
                  <a:cubicBezTo>
                    <a:pt x="0" y="22055"/>
                    <a:pt x="22055" y="0"/>
                    <a:pt x="49261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191000" cy="537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799621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PRUEBAS AUTOMÁTICAS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6675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114446" y="4248150"/>
            <a:ext cx="2877154" cy="723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COBERTURA DE CÓDIGO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98157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29271" y="4248150"/>
            <a:ext cx="287715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79"/>
              </a:lnSpc>
              <a:spcBef>
                <a:spcPct val="0"/>
              </a:spcBef>
            </a:pPr>
            <a:r>
              <a:rPr lang="en-US" b="true" sz="2400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SMOKE TEST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296400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03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4744096" y="4248150"/>
            <a:ext cx="2877154" cy="1912647"/>
            <a:chOff x="0" y="0"/>
            <a:chExt cx="3836205" cy="2550196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0"/>
              <a:ext cx="3836205" cy="9652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LÍMITE DE LA EVIDENCIA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520861"/>
              <a:ext cx="3836205" cy="10293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12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FFFFFF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Tests ≠ validez científica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611225" y="4248150"/>
            <a:ext cx="617917" cy="371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99"/>
              </a:lnSpc>
              <a:spcBef>
                <a:spcPct val="0"/>
              </a:spcBef>
            </a:pPr>
            <a:r>
              <a:rPr lang="en-US" b="true" sz="2499">
                <a:solidFill>
                  <a:srgbClr val="20282A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04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847725"/>
            <a:ext cx="16954500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084"/>
              </a:lnSpc>
              <a:spcBef>
                <a:spcPct val="0"/>
              </a:spcBef>
            </a:pPr>
            <a:r>
              <a:rPr lang="en-US" sz="6737" spc="-134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Evidencia Técnica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80022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470/470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0022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pruebas exitosas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15050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91,72%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115050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cobertura app + src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429875" y="5010150"/>
            <a:ext cx="2876550" cy="948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59"/>
              </a:lnSpc>
            </a:pPr>
            <a:r>
              <a:rPr lang="en-US" sz="540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5/5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0429875" y="6229350"/>
            <a:ext cx="2876550" cy="3257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smoke test Streamlit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66750" y="1838325"/>
            <a:ext cx="16954500" cy="474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Pruebas y Cobertura de Código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4744096" y="6191250"/>
            <a:ext cx="287655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DCE7E2"/>
                </a:solidFill>
                <a:latin typeface="Arimo"/>
                <a:ea typeface="Arimo"/>
                <a:cs typeface="Arimo"/>
                <a:sym typeface="Arimo"/>
              </a:rPr>
              <a:t>Verifican código y pipeline, no generalización predictiva.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429750" y="6477000"/>
            <a:ext cx="8191500" cy="1905000"/>
            <a:chOff x="0" y="0"/>
            <a:chExt cx="10922000" cy="254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66750" y="6477000"/>
            <a:ext cx="8191500" cy="1905000"/>
            <a:chOff x="0" y="0"/>
            <a:chExt cx="10922000" cy="2540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0922000" cy="2540000"/>
            </a:xfrm>
            <a:custGeom>
              <a:avLst/>
              <a:gdLst/>
              <a:ahLst/>
              <a:cxnLst/>
              <a:rect r="r" b="b" t="t" l="l"/>
              <a:pathLst>
                <a:path h="2540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2522988"/>
                  </a:lnTo>
                  <a:cubicBezTo>
                    <a:pt x="10922000" y="2527500"/>
                    <a:pt x="10920208" y="2531827"/>
                    <a:pt x="10917017" y="2535017"/>
                  </a:cubicBezTo>
                  <a:cubicBezTo>
                    <a:pt x="10913827" y="2538208"/>
                    <a:pt x="10909500" y="2540000"/>
                    <a:pt x="10904988" y="2540000"/>
                  </a:cubicBezTo>
                  <a:lnTo>
                    <a:pt x="17012" y="2540000"/>
                  </a:lnTo>
                  <a:cubicBezTo>
                    <a:pt x="12500" y="2540000"/>
                    <a:pt x="8173" y="2538208"/>
                    <a:pt x="4983" y="2535017"/>
                  </a:cubicBezTo>
                  <a:cubicBezTo>
                    <a:pt x="1792" y="2531827"/>
                    <a:pt x="0" y="2527500"/>
                    <a:pt x="0" y="2522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0922000" cy="2578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429750" y="3619500"/>
            <a:ext cx="8191500" cy="2476500"/>
            <a:chOff x="0" y="0"/>
            <a:chExt cx="10922000" cy="3302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66750" y="3619500"/>
            <a:ext cx="8191500" cy="2476500"/>
            <a:chOff x="0" y="0"/>
            <a:chExt cx="10922000" cy="3302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922000" cy="3302000"/>
            </a:xfrm>
            <a:custGeom>
              <a:avLst/>
              <a:gdLst/>
              <a:ahLst/>
              <a:cxnLst/>
              <a:rect r="r" b="b" t="t" l="l"/>
              <a:pathLst>
                <a:path h="3302000" w="10922000">
                  <a:moveTo>
                    <a:pt x="17012" y="0"/>
                  </a:moveTo>
                  <a:lnTo>
                    <a:pt x="10904988" y="0"/>
                  </a:lnTo>
                  <a:cubicBezTo>
                    <a:pt x="10909500" y="0"/>
                    <a:pt x="10913827" y="1792"/>
                    <a:pt x="10917017" y="4983"/>
                  </a:cubicBezTo>
                  <a:cubicBezTo>
                    <a:pt x="10920208" y="8173"/>
                    <a:pt x="10922000" y="12500"/>
                    <a:pt x="10922000" y="17012"/>
                  </a:cubicBezTo>
                  <a:lnTo>
                    <a:pt x="10922000" y="3284988"/>
                  </a:lnTo>
                  <a:cubicBezTo>
                    <a:pt x="10922000" y="3289500"/>
                    <a:pt x="10920208" y="3293827"/>
                    <a:pt x="10917017" y="3297017"/>
                  </a:cubicBezTo>
                  <a:cubicBezTo>
                    <a:pt x="10913827" y="3300207"/>
                    <a:pt x="10909500" y="3302000"/>
                    <a:pt x="10904988" y="3302000"/>
                  </a:cubicBezTo>
                  <a:lnTo>
                    <a:pt x="17012" y="3302000"/>
                  </a:lnTo>
                  <a:cubicBezTo>
                    <a:pt x="12500" y="3302000"/>
                    <a:pt x="8173" y="3300207"/>
                    <a:pt x="4983" y="3297017"/>
                  </a:cubicBezTo>
                  <a:cubicBezTo>
                    <a:pt x="1792" y="3293827"/>
                    <a:pt x="0" y="3289500"/>
                    <a:pt x="0" y="3284988"/>
                  </a:cubicBezTo>
                  <a:lnTo>
                    <a:pt x="0" y="17012"/>
                  </a:lnTo>
                  <a:cubicBezTo>
                    <a:pt x="0" y="12500"/>
                    <a:pt x="1792" y="8173"/>
                    <a:pt x="4983" y="4983"/>
                  </a:cubicBezTo>
                  <a:cubicBezTo>
                    <a:pt x="8173" y="1792"/>
                    <a:pt x="12500" y="0"/>
                    <a:pt x="17012" y="0"/>
                  </a:cubicBezTo>
                  <a:close/>
                </a:path>
              </a:pathLst>
            </a:custGeom>
            <a:solidFill>
              <a:srgbClr val="DCE7E2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10922000" cy="334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666750" y="1552575"/>
            <a:ext cx="16954500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7000" spc="-140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Trazabilidad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52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TRAZABILIDAD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52500" y="4324350"/>
            <a:ext cx="7620000" cy="8724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10 tickets Jira auditados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CA históricos completos: 6/10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7 REQ temporales sin HU Jira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15500" y="38004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CALIDAD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715500" y="4324350"/>
            <a:ext cx="7620000" cy="586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3 verificados · 4 parciales</a:t>
            </a:r>
          </a:p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 no verificados · 1 no aplica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52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RIESGOS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52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23 identificados y clasificados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715500" y="6657975"/>
            <a:ext cx="76200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GIT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715500" y="7181850"/>
            <a:ext cx="7620000" cy="300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68 commits · tag Sprint 1 verificado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6750" y="2571750"/>
            <a:ext cx="16954500" cy="592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20"/>
              </a:lnSpc>
            </a:pPr>
            <a:r>
              <a:rPr lang="en-US" sz="33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y calidad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7810500"/>
            <a:ext cx="16954500" cy="762000"/>
            <a:chOff x="0" y="0"/>
            <a:chExt cx="22606000" cy="10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606000" cy="1016000"/>
            </a:xfrm>
            <a:custGeom>
              <a:avLst/>
              <a:gdLst/>
              <a:ahLst/>
              <a:cxnLst/>
              <a:rect r="r" b="b" t="t" l="l"/>
              <a:pathLst>
                <a:path h="1016000" w="22606000">
                  <a:moveTo>
                    <a:pt x="8219" y="0"/>
                  </a:moveTo>
                  <a:lnTo>
                    <a:pt x="22597780" y="0"/>
                  </a:lnTo>
                  <a:cubicBezTo>
                    <a:pt x="22599960" y="0"/>
                    <a:pt x="22602051" y="866"/>
                    <a:pt x="22603592" y="2407"/>
                  </a:cubicBezTo>
                  <a:cubicBezTo>
                    <a:pt x="22605133" y="3949"/>
                    <a:pt x="22606000" y="6039"/>
                    <a:pt x="22606000" y="8219"/>
                  </a:cubicBezTo>
                  <a:lnTo>
                    <a:pt x="22606000" y="1007781"/>
                  </a:lnTo>
                  <a:cubicBezTo>
                    <a:pt x="22606000" y="1009961"/>
                    <a:pt x="22605133" y="1012051"/>
                    <a:pt x="22603592" y="1013593"/>
                  </a:cubicBezTo>
                  <a:cubicBezTo>
                    <a:pt x="22602051" y="1015134"/>
                    <a:pt x="22599960" y="1016000"/>
                    <a:pt x="22597780" y="1016000"/>
                  </a:cubicBezTo>
                  <a:lnTo>
                    <a:pt x="8219" y="1016000"/>
                  </a:lnTo>
                  <a:cubicBezTo>
                    <a:pt x="6039" y="1016000"/>
                    <a:pt x="3949" y="1015134"/>
                    <a:pt x="2407" y="1013593"/>
                  </a:cubicBezTo>
                  <a:cubicBezTo>
                    <a:pt x="866" y="1012051"/>
                    <a:pt x="0" y="1009961"/>
                    <a:pt x="0" y="1007781"/>
                  </a:cubicBezTo>
                  <a:lnTo>
                    <a:pt x="0" y="8219"/>
                  </a:lnTo>
                  <a:cubicBezTo>
                    <a:pt x="0" y="6039"/>
                    <a:pt x="866" y="3949"/>
                    <a:pt x="2407" y="2407"/>
                  </a:cubicBezTo>
                  <a:cubicBezTo>
                    <a:pt x="3949" y="866"/>
                    <a:pt x="6039" y="0"/>
                    <a:pt x="821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2606000" cy="10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2105025" y="3657600"/>
            <a:ext cx="6886575" cy="2926080"/>
            <a:chOff x="0" y="0"/>
            <a:chExt cx="9182100" cy="3901440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  <a:spcBef>
                  <a:spcPct val="0"/>
                </a:spcBef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FORTALEZAS TÉCNICAS DEL PROYECTO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1141095"/>
              <a:ext cx="9182100" cy="27603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Pipeline temporal causal implementado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Uso de datos reales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Prototipo funcional desarrollado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470/470 pruebas automáticas exitosas</a:t>
              </a:r>
            </a:p>
            <a:p>
              <a:pPr algn="l" marL="518158" indent="-259079" lvl="1">
                <a:lnSpc>
                  <a:spcPts val="3359"/>
                </a:lnSpc>
                <a:buFont typeface="Arial"/>
                <a:buChar char="•"/>
              </a:pPr>
              <a:r>
                <a:rPr lang="en-US" sz="2399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Arquitectura del sistema verificable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9296400" y="3657600"/>
            <a:ext cx="6886575" cy="3345180"/>
            <a:chOff x="0" y="0"/>
            <a:chExt cx="9182100" cy="446024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0"/>
              <a:ext cx="9182100" cy="48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79"/>
                </a:lnSpc>
              </a:pPr>
              <a:r>
                <a:rPr lang="en-US" b="true" sz="2400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BRECHAS EN LA GESTIÓN DEL SPRINT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1141095"/>
              <a:ext cx="9182100" cy="331914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Goal histórico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Definition of Done previa al desarrollo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evidencia de seguimiento/revisión semanal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Sprint Review formal</a:t>
              </a:r>
            </a:p>
            <a:p>
              <a:pPr algn="l" marL="518158" indent="-259079" lvl="1">
                <a:lnSpc>
                  <a:spcPts val="3359"/>
                </a:lnSpc>
                <a:spcBef>
                  <a:spcPct val="0"/>
                </a:spcBef>
                <a:buFont typeface="Arial"/>
                <a:buChar char="•"/>
              </a:pPr>
              <a:r>
                <a:rPr lang="en-US" sz="2399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Sin aceptación externa de los entregables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666750" y="714375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400"/>
              </a:lnSpc>
              <a:spcBef>
                <a:spcPct val="0"/>
              </a:spcBef>
            </a:pPr>
            <a:r>
              <a:rPr lang="en-US" sz="6000" strike="noStrike" u="none">
                <a:solidFill>
                  <a:srgbClr val="20282A"/>
                </a:solidFill>
                <a:latin typeface="Arimo"/>
                <a:ea typeface="Arimo"/>
                <a:cs typeface="Arimo"/>
                <a:sym typeface="Arimo"/>
              </a:rPr>
              <a:t>Cierre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66750" y="8020050"/>
            <a:ext cx="16954500" cy="3505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29"/>
              </a:lnSpc>
            </a:pPr>
            <a:r>
              <a:rPr lang="en-US" sz="1950" b="true">
                <a:solidFill>
                  <a:srgbClr val="DCE7E2"/>
                </a:solidFill>
                <a:latin typeface="Arimo Bold"/>
                <a:ea typeface="Arimo Bold"/>
                <a:cs typeface="Arimo Bold"/>
                <a:sym typeface="Arimo Bold"/>
              </a:rPr>
              <a:t>NO SE RECONSTRUYÓ EVIDENCIA RETROACTIVAMENTE.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66750" y="1828800"/>
            <a:ext cx="1695450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de Sprint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6F7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66750" y="8286750"/>
            <a:ext cx="3619500" cy="1143000"/>
            <a:chOff x="0" y="0"/>
            <a:chExt cx="4826000" cy="1524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2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826000">
                  <a:moveTo>
                    <a:pt x="42779" y="0"/>
                  </a:moveTo>
                  <a:lnTo>
                    <a:pt x="4783221" y="0"/>
                  </a:lnTo>
                  <a:cubicBezTo>
                    <a:pt x="4794567" y="0"/>
                    <a:pt x="4805448" y="4507"/>
                    <a:pt x="4813471" y="12530"/>
                  </a:cubicBezTo>
                  <a:cubicBezTo>
                    <a:pt x="4821493" y="20552"/>
                    <a:pt x="4826000" y="31433"/>
                    <a:pt x="4826000" y="42779"/>
                  </a:cubicBezTo>
                  <a:lnTo>
                    <a:pt x="4826000" y="1481221"/>
                  </a:lnTo>
                  <a:cubicBezTo>
                    <a:pt x="4826000" y="1492567"/>
                    <a:pt x="4821493" y="1503448"/>
                    <a:pt x="4813471" y="1511470"/>
                  </a:cubicBezTo>
                  <a:cubicBezTo>
                    <a:pt x="4805448" y="1519493"/>
                    <a:pt x="4794567" y="1524000"/>
                    <a:pt x="4783221" y="1524000"/>
                  </a:cubicBezTo>
                  <a:lnTo>
                    <a:pt x="42779" y="1524000"/>
                  </a:lnTo>
                  <a:cubicBezTo>
                    <a:pt x="31433" y="1524000"/>
                    <a:pt x="20552" y="1519493"/>
                    <a:pt x="12530" y="1511470"/>
                  </a:cubicBezTo>
                  <a:cubicBezTo>
                    <a:pt x="4507" y="1503448"/>
                    <a:pt x="0" y="1492567"/>
                    <a:pt x="0" y="1481221"/>
                  </a:cubicBezTo>
                  <a:lnTo>
                    <a:pt x="0" y="42779"/>
                  </a:lnTo>
                  <a:cubicBezTo>
                    <a:pt x="0" y="31433"/>
                    <a:pt x="4507" y="20552"/>
                    <a:pt x="12530" y="12530"/>
                  </a:cubicBezTo>
                  <a:cubicBezTo>
                    <a:pt x="20552" y="4507"/>
                    <a:pt x="31433" y="0"/>
                    <a:pt x="42779" y="0"/>
                  </a:cubicBezTo>
                  <a:close/>
                </a:path>
              </a:pathLst>
            </a:custGeom>
            <a:solidFill>
              <a:srgbClr val="262624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26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666750" y="1562100"/>
            <a:ext cx="16954500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8399"/>
              </a:lnSpc>
              <a:spcBef>
                <a:spcPct val="0"/>
              </a:spcBef>
            </a:pPr>
            <a:r>
              <a:rPr lang="en-US" sz="6999" spc="-139" strike="noStrike" u="none">
                <a:solidFill>
                  <a:srgbClr val="20282A"/>
                </a:solidFill>
                <a:latin typeface="Tenor Sans"/>
                <a:ea typeface="Tenor Sans"/>
                <a:cs typeface="Tenor Sans"/>
                <a:sym typeface="Tenor Sans"/>
              </a:rPr>
              <a:t>Base Técnica Verificable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5143500"/>
            <a:ext cx="16954500" cy="756285"/>
            <a:chOff x="0" y="0"/>
            <a:chExt cx="22606000" cy="1008380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DATOS REALES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NASA FIRMS · DMC 330007 · Copernicus DEM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7874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PIPELINE CAUSAL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7874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Features ≤ T → ranking de 50 celdas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5748000" y="-76200"/>
              <a:ext cx="6858000" cy="5638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00"/>
                </a:lnSpc>
                <a:spcBef>
                  <a:spcPct val="0"/>
                </a:spcBef>
              </a:pPr>
              <a:r>
                <a:rPr lang="en-US" b="true" sz="2400" strike="noStrike" u="none">
                  <a:solidFill>
                    <a:srgbClr val="20282A"/>
                  </a:solidFill>
                  <a:latin typeface="Clear Sans Bold"/>
                  <a:ea typeface="Clear Sans Bold"/>
                  <a:cs typeface="Clear Sans Bold"/>
                  <a:sym typeface="Clear Sans Bold"/>
                </a:rPr>
                <a:t>LIMITACIONES EXPLÍCITAS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15748000" y="622300"/>
              <a:ext cx="6858000" cy="3860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415"/>
                </a:lnSpc>
                <a:spcBef>
                  <a:spcPct val="0"/>
                </a:spcBef>
              </a:pPr>
              <a:r>
                <a:rPr lang="en-US" sz="1725" strike="noStrike" u="none">
                  <a:solidFill>
                    <a:srgbClr val="20282A"/>
                  </a:solidFill>
                  <a:latin typeface="Clear Sans"/>
                  <a:ea typeface="Clear Sans"/>
                  <a:cs typeface="Clear Sans"/>
                  <a:sym typeface="Clear Sans"/>
                </a:rPr>
                <a:t>Score relativo, no alerta oficial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666750" y="7086600"/>
            <a:ext cx="11201400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315E56"/>
                </a:solidFill>
                <a:latin typeface="Arimo Bold"/>
                <a:ea typeface="Arimo Bold"/>
                <a:cs typeface="Arimo Bold"/>
                <a:sym typeface="Arimo Bold"/>
              </a:rPr>
              <a:t>S.A.P.I. prioriza riesgo relativo; no reemplaza una alerta oficial.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47750" y="8505825"/>
            <a:ext cx="2857500" cy="6819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</a:pPr>
            <a:r>
              <a:rPr lang="en-US" sz="39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DEMO →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6750" y="2714625"/>
            <a:ext cx="16954500" cy="641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 i="true">
                <a:solidFill>
                  <a:srgbClr val="315E56"/>
                </a:solidFill>
                <a:latin typeface="Arimo Italics"/>
                <a:ea typeface="Arimo Italics"/>
                <a:cs typeface="Arimo Italics"/>
                <a:sym typeface="Arimo Italics"/>
              </a:rPr>
              <a:t>para Sprint 2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66750" y="609600"/>
            <a:ext cx="16954500" cy="19050"/>
            <a:chOff x="0" y="0"/>
            <a:chExt cx="22606000" cy="254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2606000" cy="25400"/>
            </a:xfrm>
            <a:custGeom>
              <a:avLst/>
              <a:gdLst/>
              <a:ahLst/>
              <a:cxnLst/>
              <a:rect r="r" b="b" t="t" l="l"/>
              <a:pathLst>
                <a:path h="25400" w="22606000">
                  <a:moveTo>
                    <a:pt x="0" y="0"/>
                  </a:moveTo>
                  <a:lnTo>
                    <a:pt x="22606000" y="0"/>
                  </a:lnTo>
                  <a:lnTo>
                    <a:pt x="22606000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2606000" cy="63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666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true">
                <a:solidFill>
                  <a:srgbClr val="20282A"/>
                </a:solidFill>
                <a:latin typeface="Arimo Bold"/>
                <a:ea typeface="Arimo Bold"/>
                <a:cs typeface="Arimo Bold"/>
                <a:sym typeface="Arimo Bold"/>
              </a:rPr>
              <a:t>UNIVERSIDAD ANDRÉS BELLO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858750" y="247650"/>
            <a:ext cx="4762500" cy="24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89"/>
              </a:lnSpc>
            </a:pPr>
            <a:r>
              <a:rPr lang="en-US" sz="1350">
                <a:solidFill>
                  <a:srgbClr val="667276"/>
                </a:solidFill>
                <a:latin typeface="Arimo"/>
                <a:ea typeface="Arimo"/>
                <a:cs typeface="Arimo"/>
                <a:sym typeface="Arimo"/>
              </a:rPr>
              <a:t>INSW421 · HITO 1 · SPRINT 1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6191250" y="5143500"/>
            <a:ext cx="19050" cy="1524000"/>
            <a:chOff x="0" y="0"/>
            <a:chExt cx="25400" cy="2032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096750" y="5143500"/>
            <a:ext cx="19050" cy="1524000"/>
            <a:chOff x="0" y="0"/>
            <a:chExt cx="25400" cy="2032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5400" cy="2032000"/>
            </a:xfrm>
            <a:custGeom>
              <a:avLst/>
              <a:gdLst/>
              <a:ahLst/>
              <a:cxnLst/>
              <a:rect r="r" b="b" t="t" l="l"/>
              <a:pathLst>
                <a:path h="2032000" w="25400">
                  <a:moveTo>
                    <a:pt x="0" y="0"/>
                  </a:moveTo>
                  <a:lnTo>
                    <a:pt x="25400" y="0"/>
                  </a:lnTo>
                  <a:lnTo>
                    <a:pt x="25400" y="2032000"/>
                  </a:lnTo>
                  <a:lnTo>
                    <a:pt x="0" y="2032000"/>
                  </a:lnTo>
                  <a:close/>
                </a:path>
              </a:pathLst>
            </a:custGeom>
            <a:solidFill>
              <a:srgbClr val="C7CFCB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25400" cy="2070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Presentación - S.A.P.I. — Sistema de Alerta y Priorización</dc:description>
  <dc:identifier>DAHUkB2w4Zg</dc:identifier>
  <dcterms:modified xsi:type="dcterms:W3CDTF">2011-08-01T06:04:30Z</dcterms:modified>
  <cp:revision>1</cp:revision>
  <dc:title>Presentación - S.A.P.I. — Sistema de Alerta y Priorización</dc:title>
</cp:coreProperties>
</file>