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nor Sans" charset="1" panose="02000000000000000000"/>
      <p:regular r:id="rId17"/>
    </p:embeddedFont>
    <p:embeddedFont>
      <p:font typeface="Clear Sans" charset="1" panose="020B0503030202020304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Arimo Italics" charset="1" panose="020B0604020202090204"/>
      <p:regular r:id="rId21"/>
    </p:embeddedFont>
    <p:embeddedFont>
      <p:font typeface="Clear Sans Medium" charset="1" panose="020B0603030202020304"/>
      <p:regular r:id="rId22"/>
    </p:embeddedFont>
    <p:embeddedFont>
      <p:font typeface="Clear Sans Bold" charset="1" panose="020B08030302020203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428750"/>
            <a:ext cx="9763125" cy="4003594"/>
            <a:chOff x="0" y="0"/>
            <a:chExt cx="13017500" cy="533812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3017500" cy="180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  <a:spcBef>
                  <a:spcPct val="0"/>
                </a:spcBef>
              </a:pPr>
              <a:r>
                <a:rPr lang="en-US" sz="9750" spc="-195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S.A.P.I.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641850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DANIEL GONZALO CORTEZ FIERRO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4124325"/>
            <a:ext cx="9763125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Hito 1 · Sprint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5657850"/>
            <a:ext cx="976312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Universidad Andrés Bello · INSW421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3048000"/>
            <a:ext cx="169545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Sistema de Alerta y Priorización de Riesgo de Incendios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9763125" cy="2228706"/>
            <a:chOff x="0" y="0"/>
            <a:chExt cx="13017500" cy="297160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30175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spc="-139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Problema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441575"/>
              <a:ext cx="130175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INFORMACIÓN Y DATOS REALES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5105400"/>
            <a:ext cx="976312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¿Dónde conviene priorizar la atención utilizando información disponible antes de una ventana futura?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6419850"/>
            <a:ext cx="9763125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315E56"/>
                </a:solidFill>
                <a:latin typeface="Arimo"/>
                <a:ea typeface="Arimo"/>
                <a:cs typeface="Arimo"/>
                <a:sym typeface="Arimo"/>
              </a:rPr>
              <a:t>Corredor Viña del Mar · Quilpué · Villa Alemana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53750" y="1847850"/>
            <a:ext cx="6667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VIÑA DEL MAR — QUILPUÉ — VILLA ALEMANA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53750" y="2800350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GRILLA · 50 CELDAS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53750" y="66198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NASA FIRMS · DMC 330007 · Copernicus DEM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258925" y="2381250"/>
            <a:ext cx="57150" cy="381000"/>
            <a:chOff x="0" y="0"/>
            <a:chExt cx="76200" cy="50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508000"/>
            </a:xfrm>
            <a:custGeom>
              <a:avLst/>
              <a:gdLst/>
              <a:ahLst/>
              <a:cxnLst/>
              <a:rect r="r" b="b" t="t" l="l"/>
              <a:pathLst>
                <a:path h="508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62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0" y="3429000"/>
            <a:ext cx="19050" cy="2857500"/>
            <a:chOff x="0" y="0"/>
            <a:chExt cx="25400" cy="381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01500" y="3429000"/>
            <a:ext cx="19050" cy="2857500"/>
            <a:chOff x="0" y="0"/>
            <a:chExt cx="25400" cy="381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73000" y="3429000"/>
            <a:ext cx="19050" cy="2857500"/>
            <a:chOff x="0" y="0"/>
            <a:chExt cx="25400" cy="381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144500" y="3429000"/>
            <a:ext cx="19050" cy="2857500"/>
            <a:chOff x="0" y="0"/>
            <a:chExt cx="25400" cy="381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16000" y="3429000"/>
            <a:ext cx="19050" cy="2857500"/>
            <a:chOff x="0" y="0"/>
            <a:chExt cx="25400" cy="381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287500" y="3429000"/>
            <a:ext cx="19050" cy="2857500"/>
            <a:chOff x="0" y="0"/>
            <a:chExt cx="25400" cy="381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859000" y="3429000"/>
            <a:ext cx="19050" cy="2857500"/>
            <a:chOff x="0" y="0"/>
            <a:chExt cx="25400" cy="3810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430500" y="3429000"/>
            <a:ext cx="19050" cy="2857500"/>
            <a:chOff x="0" y="0"/>
            <a:chExt cx="25400" cy="381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002000" y="3429000"/>
            <a:ext cx="19050" cy="2857500"/>
            <a:chOff x="0" y="0"/>
            <a:chExt cx="25400" cy="3810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573500" y="3429000"/>
            <a:ext cx="19050" cy="2857500"/>
            <a:chOff x="0" y="0"/>
            <a:chExt cx="25400" cy="381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145000" y="3429000"/>
            <a:ext cx="19050" cy="2857500"/>
            <a:chOff x="0" y="0"/>
            <a:chExt cx="25400" cy="3810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430000" y="3429000"/>
            <a:ext cx="5715000" cy="19050"/>
            <a:chOff x="0" y="0"/>
            <a:chExt cx="7620000" cy="25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430000" y="4000500"/>
            <a:ext cx="5715000" cy="19050"/>
            <a:chOff x="0" y="0"/>
            <a:chExt cx="7620000" cy="25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430000" y="4572000"/>
            <a:ext cx="5715000" cy="19050"/>
            <a:chOff x="0" y="0"/>
            <a:chExt cx="7620000" cy="25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430000" y="5143500"/>
            <a:ext cx="5715000" cy="19050"/>
            <a:chOff x="0" y="0"/>
            <a:chExt cx="7620000" cy="25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430000" y="5715000"/>
            <a:ext cx="5715000" cy="19050"/>
            <a:chOff x="0" y="0"/>
            <a:chExt cx="7620000" cy="25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430000" y="6286500"/>
            <a:ext cx="5715000" cy="19050"/>
            <a:chOff x="0" y="0"/>
            <a:chExt cx="7620000" cy="25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666750" y="2571750"/>
            <a:ext cx="9763125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y propuesta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01125" y="3762375"/>
            <a:ext cx="3333750" cy="1857375"/>
            <a:chOff x="0" y="0"/>
            <a:chExt cx="4445000" cy="2476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4445000">
                  <a:moveTo>
                    <a:pt x="46446" y="0"/>
                  </a:moveTo>
                  <a:lnTo>
                    <a:pt x="4398554" y="0"/>
                  </a:lnTo>
                  <a:cubicBezTo>
                    <a:pt x="4424206" y="0"/>
                    <a:pt x="4445000" y="20794"/>
                    <a:pt x="4445000" y="46446"/>
                  </a:cubicBezTo>
                  <a:lnTo>
                    <a:pt x="4445000" y="2430054"/>
                  </a:lnTo>
                  <a:cubicBezTo>
                    <a:pt x="4445000" y="2455706"/>
                    <a:pt x="4424206" y="2476500"/>
                    <a:pt x="4398554" y="2476500"/>
                  </a:cubicBezTo>
                  <a:lnTo>
                    <a:pt x="46446" y="2476500"/>
                  </a:lnTo>
                  <a:cubicBezTo>
                    <a:pt x="20794" y="2476500"/>
                    <a:pt x="0" y="2455706"/>
                    <a:pt x="0" y="2430054"/>
                  </a:cubicBezTo>
                  <a:lnTo>
                    <a:pt x="0" y="46446"/>
                  </a:lnTo>
                  <a:cubicBezTo>
                    <a:pt x="0" y="20794"/>
                    <a:pt x="20794" y="0"/>
                    <a:pt x="46446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45000" cy="251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1562086"/>
            <a:ext cx="83248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Entregas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363.000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filas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5300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7.260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5300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instantes 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3925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3925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DCE7E2"/>
                </a:solidFill>
                <a:latin typeface="Arimo"/>
                <a:ea typeface="Arimo"/>
                <a:cs typeface="Arimo"/>
                <a:sym typeface="Arimo"/>
              </a:rPr>
              <a:t>filas con target positivo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2550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50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celdas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6229350"/>
            <a:ext cx="16954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Datos reales → pipeline temporal causal → ranking exploratorio → prototipo GIS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6896100"/>
            <a:ext cx="1695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No es un sistema operacional.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2571750"/>
            <a:ext cx="832485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del Hito 1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33750" y="8239125"/>
            <a:ext cx="5905500" cy="523875"/>
            <a:chOff x="0" y="0"/>
            <a:chExt cx="78740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33750" y="7477125"/>
            <a:ext cx="5905500" cy="523875"/>
            <a:chOff x="0" y="0"/>
            <a:chExt cx="78740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333750" y="6715125"/>
            <a:ext cx="5905500" cy="523875"/>
            <a:chOff x="0" y="0"/>
            <a:chExt cx="78740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333750" y="5953125"/>
            <a:ext cx="5905500" cy="523875"/>
            <a:chOff x="0" y="0"/>
            <a:chExt cx="78740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333750" y="5191125"/>
            <a:ext cx="5905500" cy="523875"/>
            <a:chOff x="0" y="0"/>
            <a:chExt cx="78740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333750" y="4095750"/>
            <a:ext cx="5905500" cy="857250"/>
            <a:chOff x="0" y="0"/>
            <a:chExt cx="7874000" cy="114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74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1119403"/>
                  </a:lnTo>
                  <a:cubicBezTo>
                    <a:pt x="7874000" y="1132435"/>
                    <a:pt x="7863435" y="1143000"/>
                    <a:pt x="7850402" y="1143000"/>
                  </a:cubicBezTo>
                  <a:lnTo>
                    <a:pt x="23597" y="1143000"/>
                  </a:lnTo>
                  <a:cubicBezTo>
                    <a:pt x="10565" y="1143000"/>
                    <a:pt x="0" y="1132435"/>
                    <a:pt x="0" y="11194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874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66750" y="1562086"/>
            <a:ext cx="83248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Arquitectura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734675" y="3352794"/>
            <a:ext cx="5448300" cy="4797448"/>
            <a:chOff x="0" y="0"/>
            <a:chExt cx="7264400" cy="6396598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FLUJO DE DATOS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878058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 sistema integra tres fuentes reales (NASA FIRMS, DMC 330007, Copernicus DEM) mediante procesamiento temporal y espacial causal.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4023921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MODELO Y RANKING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4949603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 dataset temporal alimenta el Modelo D, que produce un ranking relativo de las 50 celdas — nunca una probabilidad.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524250" y="4152900"/>
            <a:ext cx="5524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NASA FIRMS · DMC 330007 · Copernicus DEM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24250" y="4572000"/>
            <a:ext cx="5524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DMC = meteorología REGIONAL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267450" y="4953000"/>
            <a:ext cx="38100" cy="238125"/>
            <a:chOff x="0" y="0"/>
            <a:chExt cx="50800" cy="317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524250" y="5276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Procesamiento temporal / espacial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267450" y="5715000"/>
            <a:ext cx="38100" cy="238125"/>
            <a:chOff x="0" y="0"/>
            <a:chExt cx="50800" cy="317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524250" y="6038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Dataset temporal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267450" y="6477000"/>
            <a:ext cx="38100" cy="238125"/>
            <a:chOff x="0" y="0"/>
            <a:chExt cx="50800" cy="317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3524250" y="6800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Modelo D → score_current_grid()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267450" y="7239000"/>
            <a:ext cx="38100" cy="238125"/>
            <a:chOff x="0" y="0"/>
            <a:chExt cx="50800" cy="317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3524250" y="7562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Ranking (50 celdas, con empates)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267450" y="8001000"/>
            <a:ext cx="38100" cy="238125"/>
            <a:chOff x="0" y="0"/>
            <a:chExt cx="50800" cy="3175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3524250" y="8324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Dashboard Streamlit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66750" y="2686050"/>
            <a:ext cx="97631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del Sistema S.A.P.I.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15500" y="8550000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4+1 · POST-HITO 09-09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15500" y="8860800"/>
            <a:ext cx="7620000" cy="6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4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5 vistas · 8 ADR · docs/architecture-4plus1-hito1.md — formalización posterior a Sprint 1, no diseño previo.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1562100"/>
            <a:ext cx="9763125" cy="2740436"/>
            <a:chOff x="0" y="0"/>
            <a:chExt cx="13017500" cy="365391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13017500" cy="119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019"/>
                </a:lnSpc>
                <a:spcBef>
                  <a:spcPct val="0"/>
                </a:spcBef>
              </a:pPr>
              <a:r>
                <a:rPr lang="en-US" sz="5849" spc="-116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Causalidad temporal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06920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Todo feature usado tiene timestamp menor o igual a T. El target es si existe una detección FIRMS válida en la ventana futura T &lt; t ≤ T+6h — nunca se usa información posterior a T para construir un feature.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858125" y="6229350"/>
            <a:ext cx="9763125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(cell_id, T) → ¿detección FIRMS válida en T &lt; t ≤ T+6h?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58125" y="7181850"/>
            <a:ext cx="9763125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Causalidad temporal · Cooldown · FIRMS ≠ incendio confirmado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028950" y="1714500"/>
            <a:ext cx="57150" cy="6667500"/>
            <a:chOff x="0" y="0"/>
            <a:chExt cx="76200" cy="889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62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86025" y="4953000"/>
            <a:ext cx="1143000" cy="1619250"/>
            <a:chOff x="0" y="0"/>
            <a:chExt cx="1524000" cy="215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09875" y="4705350"/>
            <a:ext cx="495300" cy="495300"/>
            <a:chOff x="0" y="0"/>
            <a:chExt cx="660400" cy="660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330200" y="0"/>
                  </a:moveTo>
                  <a:cubicBezTo>
                    <a:pt x="512564" y="0"/>
                    <a:pt x="660400" y="147836"/>
                    <a:pt x="660400" y="330200"/>
                  </a:cubicBezTo>
                  <a:cubicBezTo>
                    <a:pt x="660400" y="512564"/>
                    <a:pt x="512564" y="660400"/>
                    <a:pt x="330200" y="660400"/>
                  </a:cubicBezTo>
                  <a:cubicBezTo>
                    <a:pt x="147836" y="660400"/>
                    <a:pt x="0" y="512564"/>
                    <a:pt x="0" y="330200"/>
                  </a:cubicBez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57250" y="2133600"/>
            <a:ext cx="4381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PASADO / PRESENTE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2619375"/>
            <a:ext cx="4381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features ≤ 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48050" y="4657725"/>
            <a:ext cx="571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7250" y="6800850"/>
            <a:ext cx="4381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FUTURO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7250" y="7229475"/>
            <a:ext cx="4381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T &lt; t ≤ T+6h — target FIRMS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58125" y="2686050"/>
            <a:ext cx="97631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sin mirar el futuro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73250" y="3333750"/>
            <a:ext cx="3048000" cy="1619250"/>
            <a:chOff x="0" y="0"/>
            <a:chExt cx="4064000" cy="2159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96625" y="3333750"/>
            <a:ext cx="3048000" cy="1619250"/>
            <a:chOff x="0" y="0"/>
            <a:chExt cx="4064000" cy="215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20000" y="3333750"/>
            <a:ext cx="3048000" cy="1619250"/>
            <a:chOff x="0" y="0"/>
            <a:chExt cx="4064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43375" y="3333750"/>
            <a:ext cx="3048000" cy="1619250"/>
            <a:chOff x="0" y="0"/>
            <a:chExt cx="4064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750" y="3333750"/>
            <a:ext cx="3048000" cy="1619250"/>
            <a:chOff x="0" y="0"/>
            <a:chExt cx="4064000" cy="215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714375"/>
            <a:ext cx="16954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Validación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7250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7250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NO ENTRENABLE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33875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33875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LIMITADO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10500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2024*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10500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ADECUADO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87125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87125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LIMITADO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763750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763750" y="4076700"/>
            <a:ext cx="2667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LIMITADO / PARCIAL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6750" y="5562600"/>
            <a:ext cx="16954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Evidencia exploratoria; no generalización predictiva demostrada.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6750" y="6238875"/>
            <a:ext cx="16954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* 2024 coincide con el megaevento del 03-02-2024.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6750" y="1828800"/>
            <a:ext cx="16954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y limitación científica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905000"/>
            <a:ext cx="12382500" cy="6962775"/>
            <a:chOff x="0" y="0"/>
            <a:chExt cx="16510000" cy="9283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10000" cy="9283700"/>
            </a:xfrm>
            <a:custGeom>
              <a:avLst/>
              <a:gdLst/>
              <a:ahLst/>
              <a:cxnLst/>
              <a:rect r="r" b="b" t="t" l="l"/>
              <a:pathLst>
                <a:path h="9283700" w="16510000">
                  <a:moveTo>
                    <a:pt x="15006" y="0"/>
                  </a:moveTo>
                  <a:lnTo>
                    <a:pt x="16494995" y="0"/>
                  </a:lnTo>
                  <a:cubicBezTo>
                    <a:pt x="16498974" y="0"/>
                    <a:pt x="16502791" y="1581"/>
                    <a:pt x="16505605" y="4395"/>
                  </a:cubicBezTo>
                  <a:cubicBezTo>
                    <a:pt x="16508419" y="7209"/>
                    <a:pt x="16510000" y="11026"/>
                    <a:pt x="16510000" y="15006"/>
                  </a:cubicBezTo>
                  <a:lnTo>
                    <a:pt x="16510000" y="9268695"/>
                  </a:lnTo>
                  <a:cubicBezTo>
                    <a:pt x="16510000" y="9272674"/>
                    <a:pt x="16508419" y="9276491"/>
                    <a:pt x="16505605" y="9279305"/>
                  </a:cubicBezTo>
                  <a:cubicBezTo>
                    <a:pt x="16502791" y="9282119"/>
                    <a:pt x="16498974" y="9283700"/>
                    <a:pt x="16494995" y="9283700"/>
                  </a:cubicBezTo>
                  <a:lnTo>
                    <a:pt x="15006" y="9283700"/>
                  </a:lnTo>
                  <a:cubicBezTo>
                    <a:pt x="11026" y="9283700"/>
                    <a:pt x="7209" y="9282119"/>
                    <a:pt x="4395" y="9279305"/>
                  </a:cubicBezTo>
                  <a:cubicBezTo>
                    <a:pt x="1581" y="9276491"/>
                    <a:pt x="0" y="9272674"/>
                    <a:pt x="0" y="9268695"/>
                  </a:cubicBezTo>
                  <a:lnTo>
                    <a:pt x="0" y="15006"/>
                  </a:lnTo>
                  <a:cubicBezTo>
                    <a:pt x="0" y="11026"/>
                    <a:pt x="1581" y="7209"/>
                    <a:pt x="4395" y="4395"/>
                  </a:cubicBezTo>
                  <a:cubicBezTo>
                    <a:pt x="7209" y="1581"/>
                    <a:pt x="11026" y="0"/>
                    <a:pt x="15006" y="0"/>
                  </a:cubicBezTo>
                  <a:close/>
                </a:path>
              </a:pathLst>
            </a:custGeom>
            <a:solidFill>
              <a:srgbClr val="DCE7E2"/>
            </a:solidFill>
            <a:ln w="28575" cap="rnd">
              <a:solidFill>
                <a:srgbClr val="667276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510000" cy="9321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857250"/>
            <a:ext cx="16954500" cy="8484870"/>
            <a:chOff x="0" y="0"/>
            <a:chExt cx="22606000" cy="113131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893425"/>
              <a:ext cx="22606000" cy="419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b="true" sz="1950" strike="noStrike" u="none">
                  <a:solidFill>
                    <a:srgbClr val="315E5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Score relativo exploratorio ≠ probabilidad calibrada.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226060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PROTOTIPO</a:t>
              </a:r>
            </a:p>
          </p:txBody>
        </p:sp>
      </p:grpSp>
      <p:pic>
        <p:nvPicPr>
          <p:cNvPr id="8" name="Captura real del dashboard S.A.P.I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091" y="1905000"/>
            <a:ext cx="10127818" cy="6962775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3525500" y="2476500"/>
            <a:ext cx="457200" cy="457200"/>
            <a:chOff x="0" y="0"/>
            <a:chExt cx="6096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525500" y="2524125"/>
            <a:ext cx="4572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2990850"/>
            <a:ext cx="4000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Ranking relativo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525500" y="4572000"/>
            <a:ext cx="457200" cy="457200"/>
            <a:chOff x="0" y="0"/>
            <a:chExt cx="6096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525500" y="4619625"/>
            <a:ext cx="4572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25500" y="5086350"/>
            <a:ext cx="4000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Datos históricos / frescura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525500" y="6667500"/>
            <a:ext cx="457200" cy="457200"/>
            <a:chOff x="0" y="0"/>
            <a:chExt cx="60960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525500" y="6715125"/>
            <a:ext cx="4572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25500" y="7181850"/>
            <a:ext cx="4000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Trazabilidad por celda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6750" y="1362075"/>
            <a:ext cx="16954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funcional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78000" y="4095750"/>
            <a:ext cx="3143250" cy="4000500"/>
            <a:chOff x="0" y="0"/>
            <a:chExt cx="4191000" cy="533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1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191000">
                  <a:moveTo>
                    <a:pt x="49261" y="0"/>
                  </a:moveTo>
                  <a:lnTo>
                    <a:pt x="4141739" y="0"/>
                  </a:lnTo>
                  <a:cubicBezTo>
                    <a:pt x="4168945" y="0"/>
                    <a:pt x="4191000" y="22055"/>
                    <a:pt x="4191000" y="49261"/>
                  </a:cubicBezTo>
                  <a:lnTo>
                    <a:pt x="4191000" y="5284739"/>
                  </a:lnTo>
                  <a:cubicBezTo>
                    <a:pt x="4191000" y="5311945"/>
                    <a:pt x="4168945" y="5334000"/>
                    <a:pt x="4141739" y="5334000"/>
                  </a:cubicBezTo>
                  <a:lnTo>
                    <a:pt x="49261" y="5334000"/>
                  </a:lnTo>
                  <a:cubicBezTo>
                    <a:pt x="22055" y="5334000"/>
                    <a:pt x="0" y="5311945"/>
                    <a:pt x="0" y="5284739"/>
                  </a:cubicBezTo>
                  <a:lnTo>
                    <a:pt x="0" y="49261"/>
                  </a:lnTo>
                  <a:cubicBezTo>
                    <a:pt x="0" y="22055"/>
                    <a:pt x="22055" y="0"/>
                    <a:pt x="49261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91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99621" y="4248150"/>
            <a:ext cx="287715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PRUEBAS AUTOMÁTICAS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14446" y="4248150"/>
            <a:ext cx="287715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COBERTURA DE CÓDIGO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81575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29271" y="4248150"/>
            <a:ext cx="287715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SMOKE TEST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96400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744096" y="4248150"/>
            <a:ext cx="2877154" cy="1912647"/>
            <a:chOff x="0" y="0"/>
            <a:chExt cx="3836205" cy="255019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3836205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LÍMITE DE LA EVIDENCIA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520861"/>
              <a:ext cx="3836205" cy="1029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Tests ≠ validez científica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611225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847725"/>
            <a:ext cx="169545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84"/>
              </a:lnSpc>
              <a:spcBef>
                <a:spcPct val="0"/>
              </a:spcBef>
            </a:pPr>
            <a:r>
              <a:rPr lang="en-US" sz="6737" spc="-134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Evidencia Técnica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00225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470/470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00225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pruebas exitosas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15050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91,72%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15050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cobertura app + src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29875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5/5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29875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smoke test Streamlit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6750" y="1838325"/>
            <a:ext cx="169545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Pruebas y Cobertura de Código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44096" y="6191250"/>
            <a:ext cx="287655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DCE7E2"/>
                </a:solidFill>
                <a:latin typeface="Arimo"/>
                <a:ea typeface="Arimo"/>
                <a:cs typeface="Arimo"/>
                <a:sym typeface="Arimo"/>
              </a:rPr>
              <a:t>Verifican código y pipeline, no generalización predictiva.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6750" y="8420100"/>
            <a:ext cx="16954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POST-HITO · 09-09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6750" y="8789925"/>
            <a:ext cx="16954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487/487 pruebas · cobertura 91,75% · REQ-15 VERIFIED · suite ampliada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29750" y="6477000"/>
            <a:ext cx="8191500" cy="1905000"/>
            <a:chOff x="0" y="0"/>
            <a:chExt cx="10922000" cy="25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22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922000">
                  <a:moveTo>
                    <a:pt x="17012" y="0"/>
                  </a:moveTo>
                  <a:lnTo>
                    <a:pt x="10904988" y="0"/>
                  </a:lnTo>
                  <a:cubicBezTo>
                    <a:pt x="10909500" y="0"/>
                    <a:pt x="10913827" y="1792"/>
                    <a:pt x="10917017" y="4983"/>
                  </a:cubicBezTo>
                  <a:cubicBezTo>
                    <a:pt x="10920208" y="8173"/>
                    <a:pt x="10922000" y="12500"/>
                    <a:pt x="10922000" y="17012"/>
                  </a:cubicBezTo>
                  <a:lnTo>
                    <a:pt x="10922000" y="2522988"/>
                  </a:lnTo>
                  <a:cubicBezTo>
                    <a:pt x="10922000" y="2527500"/>
                    <a:pt x="10920208" y="2531827"/>
                    <a:pt x="10917017" y="2535017"/>
                  </a:cubicBezTo>
                  <a:cubicBezTo>
                    <a:pt x="10913827" y="2538208"/>
                    <a:pt x="10909500" y="2540000"/>
                    <a:pt x="10904988" y="2540000"/>
                  </a:cubicBezTo>
                  <a:lnTo>
                    <a:pt x="17012" y="2540000"/>
                  </a:lnTo>
                  <a:cubicBezTo>
                    <a:pt x="12500" y="2540000"/>
                    <a:pt x="8173" y="2538208"/>
                    <a:pt x="4983" y="2535017"/>
                  </a:cubicBezTo>
                  <a:cubicBezTo>
                    <a:pt x="1792" y="2531827"/>
                    <a:pt x="0" y="2527500"/>
                    <a:pt x="0" y="2522988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22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477000"/>
            <a:ext cx="8191500" cy="1905000"/>
            <a:chOff x="0" y="0"/>
            <a:chExt cx="10922000" cy="254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22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922000">
                  <a:moveTo>
                    <a:pt x="17012" y="0"/>
                  </a:moveTo>
                  <a:lnTo>
                    <a:pt x="10904988" y="0"/>
                  </a:lnTo>
                  <a:cubicBezTo>
                    <a:pt x="10909500" y="0"/>
                    <a:pt x="10913827" y="1792"/>
                    <a:pt x="10917017" y="4983"/>
                  </a:cubicBezTo>
                  <a:cubicBezTo>
                    <a:pt x="10920208" y="8173"/>
                    <a:pt x="10922000" y="12500"/>
                    <a:pt x="10922000" y="17012"/>
                  </a:cubicBezTo>
                  <a:lnTo>
                    <a:pt x="10922000" y="2522988"/>
                  </a:lnTo>
                  <a:cubicBezTo>
                    <a:pt x="10922000" y="2527500"/>
                    <a:pt x="10920208" y="2531827"/>
                    <a:pt x="10917017" y="2535017"/>
                  </a:cubicBezTo>
                  <a:cubicBezTo>
                    <a:pt x="10913827" y="2538208"/>
                    <a:pt x="10909500" y="2540000"/>
                    <a:pt x="10904988" y="2540000"/>
                  </a:cubicBezTo>
                  <a:lnTo>
                    <a:pt x="17012" y="2540000"/>
                  </a:lnTo>
                  <a:cubicBezTo>
                    <a:pt x="12500" y="2540000"/>
                    <a:pt x="8173" y="2538208"/>
                    <a:pt x="4983" y="2535017"/>
                  </a:cubicBezTo>
                  <a:cubicBezTo>
                    <a:pt x="1792" y="2531827"/>
                    <a:pt x="0" y="2527500"/>
                    <a:pt x="0" y="2522988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22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29750" y="3619500"/>
            <a:ext cx="8191500" cy="2476500"/>
            <a:chOff x="0" y="0"/>
            <a:chExt cx="10922000" cy="330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2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922000">
                  <a:moveTo>
                    <a:pt x="17012" y="0"/>
                  </a:moveTo>
                  <a:lnTo>
                    <a:pt x="10904988" y="0"/>
                  </a:lnTo>
                  <a:cubicBezTo>
                    <a:pt x="10909500" y="0"/>
                    <a:pt x="10913827" y="1792"/>
                    <a:pt x="10917017" y="4983"/>
                  </a:cubicBezTo>
                  <a:cubicBezTo>
                    <a:pt x="10920208" y="8173"/>
                    <a:pt x="10922000" y="12500"/>
                    <a:pt x="10922000" y="17012"/>
                  </a:cubicBezTo>
                  <a:lnTo>
                    <a:pt x="10922000" y="3284988"/>
                  </a:lnTo>
                  <a:cubicBezTo>
                    <a:pt x="10922000" y="3289500"/>
                    <a:pt x="10920208" y="3293827"/>
                    <a:pt x="10917017" y="3297017"/>
                  </a:cubicBezTo>
                  <a:cubicBezTo>
                    <a:pt x="10913827" y="3300207"/>
                    <a:pt x="10909500" y="3302000"/>
                    <a:pt x="10904988" y="3302000"/>
                  </a:cubicBezTo>
                  <a:lnTo>
                    <a:pt x="17012" y="3302000"/>
                  </a:lnTo>
                  <a:cubicBezTo>
                    <a:pt x="12500" y="3302000"/>
                    <a:pt x="8173" y="3300207"/>
                    <a:pt x="4983" y="3297017"/>
                  </a:cubicBezTo>
                  <a:cubicBezTo>
                    <a:pt x="1792" y="3293827"/>
                    <a:pt x="0" y="3289500"/>
                    <a:pt x="0" y="3284988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2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3619500"/>
            <a:ext cx="8191500" cy="2726500"/>
            <a:chOff x="0" y="0"/>
            <a:chExt cx="10922000" cy="330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2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922000">
                  <a:moveTo>
                    <a:pt x="17012" y="0"/>
                  </a:moveTo>
                  <a:lnTo>
                    <a:pt x="10904988" y="0"/>
                  </a:lnTo>
                  <a:cubicBezTo>
                    <a:pt x="10909500" y="0"/>
                    <a:pt x="10913827" y="1792"/>
                    <a:pt x="10917017" y="4983"/>
                  </a:cubicBezTo>
                  <a:cubicBezTo>
                    <a:pt x="10920208" y="8173"/>
                    <a:pt x="10922000" y="12500"/>
                    <a:pt x="10922000" y="17012"/>
                  </a:cubicBezTo>
                  <a:lnTo>
                    <a:pt x="10922000" y="3284988"/>
                  </a:lnTo>
                  <a:cubicBezTo>
                    <a:pt x="10922000" y="3289500"/>
                    <a:pt x="10920208" y="3293827"/>
                    <a:pt x="10917017" y="3297017"/>
                  </a:cubicBezTo>
                  <a:cubicBezTo>
                    <a:pt x="10913827" y="3300207"/>
                    <a:pt x="10909500" y="3302000"/>
                    <a:pt x="10904988" y="3302000"/>
                  </a:cubicBezTo>
                  <a:lnTo>
                    <a:pt x="17012" y="3302000"/>
                  </a:lnTo>
                  <a:cubicBezTo>
                    <a:pt x="12500" y="3302000"/>
                    <a:pt x="8173" y="3300207"/>
                    <a:pt x="4983" y="3297017"/>
                  </a:cubicBezTo>
                  <a:cubicBezTo>
                    <a:pt x="1792" y="3293827"/>
                    <a:pt x="0" y="3289500"/>
                    <a:pt x="0" y="3284988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2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1552575"/>
            <a:ext cx="169545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7000" spc="-140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Trazabilidad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38004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TRAZABILIDAD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4324350"/>
            <a:ext cx="7620000" cy="195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AL CIERRE · 07-09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10 tickets Jira auditados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CA históricos completos: 6/10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7 REQ temporales sin HU Jira</a:t>
            </a:r>
          </a:p>
          <a:p>
            <a:pPr algn="l">
              <a:lnSpc>
                <a:spcPts val="2100"/>
              </a:lnSpc>
              <a:spcBef>
                <a:spcPct val="30000"/>
              </a:spcBef>
            </a:pPr>
            <a:r>
              <a:rPr lang="en-US" sz="1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POST-HITO · 09-09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SAPI-50/51/52 → REQ-10..16</a:t>
            </a:r>
          </a:p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7/7 cadenas actuales completas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15500" y="38004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CALIDAD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15500" y="4324350"/>
            <a:ext cx="76200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3 verificados · 4 parciales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2 no verificados · 1 no aplica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500" y="66579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RIESGOS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2500" y="7181850"/>
            <a:ext cx="7620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23 identificados y clasificados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15500" y="66579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GIT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15500" y="7181850"/>
            <a:ext cx="7620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68 commits · tag Sprint 1 verificado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" y="2571750"/>
            <a:ext cx="169545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y calidad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7810500"/>
            <a:ext cx="16954500" cy="762000"/>
            <a:chOff x="0" y="0"/>
            <a:chExt cx="22606000" cy="10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0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2606000">
                  <a:moveTo>
                    <a:pt x="8219" y="0"/>
                  </a:moveTo>
                  <a:lnTo>
                    <a:pt x="22597780" y="0"/>
                  </a:lnTo>
                  <a:cubicBezTo>
                    <a:pt x="22599960" y="0"/>
                    <a:pt x="22602051" y="866"/>
                    <a:pt x="22603592" y="2407"/>
                  </a:cubicBezTo>
                  <a:cubicBezTo>
                    <a:pt x="22605133" y="3949"/>
                    <a:pt x="22606000" y="6039"/>
                    <a:pt x="22606000" y="8219"/>
                  </a:cubicBezTo>
                  <a:lnTo>
                    <a:pt x="22606000" y="1007781"/>
                  </a:lnTo>
                  <a:cubicBezTo>
                    <a:pt x="22606000" y="1009961"/>
                    <a:pt x="22605133" y="1012051"/>
                    <a:pt x="22603592" y="1013593"/>
                  </a:cubicBezTo>
                  <a:cubicBezTo>
                    <a:pt x="22602051" y="1015134"/>
                    <a:pt x="22599960" y="1016000"/>
                    <a:pt x="22597780" y="1016000"/>
                  </a:cubicBezTo>
                  <a:lnTo>
                    <a:pt x="8219" y="1016000"/>
                  </a:lnTo>
                  <a:cubicBezTo>
                    <a:pt x="6039" y="1016000"/>
                    <a:pt x="3949" y="1015134"/>
                    <a:pt x="2407" y="1013593"/>
                  </a:cubicBezTo>
                  <a:cubicBezTo>
                    <a:pt x="866" y="1012051"/>
                    <a:pt x="0" y="1009961"/>
                    <a:pt x="0" y="1007781"/>
                  </a:cubicBezTo>
                  <a:lnTo>
                    <a:pt x="0" y="8219"/>
                  </a:lnTo>
                  <a:cubicBezTo>
                    <a:pt x="0" y="6039"/>
                    <a:pt x="866" y="3949"/>
                    <a:pt x="2407" y="2407"/>
                  </a:cubicBezTo>
                  <a:cubicBezTo>
                    <a:pt x="3949" y="866"/>
                    <a:pt x="6039" y="0"/>
                    <a:pt x="8219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60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3657600"/>
            <a:ext cx="6886575" cy="2926080"/>
            <a:chOff x="0" y="0"/>
            <a:chExt cx="9182100" cy="390144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FORTALEZAS TÉCNICAS DEL PROYECTO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41095"/>
              <a:ext cx="9182100" cy="2760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Pipeline temporal causal implementado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Uso de datos reales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Prototipo funcional desarrollado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470/470 pruebas automáticas exitosas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Arquitectura del sistema verificable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657600"/>
            <a:ext cx="6886575" cy="3345180"/>
            <a:chOff x="0" y="0"/>
            <a:chExt cx="9182100" cy="446024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BRECHAS EN LA GESTIÓN DEL SPRINT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41095"/>
              <a:ext cx="9182100" cy="3319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Sprint Goal histórico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Definition of Done previa al desarrollo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evidencia de seguimiento/revisión semanal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Sprint Review formal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aceptación externa de los entregables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714375"/>
            <a:ext cx="16954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Cierre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8020050"/>
            <a:ext cx="16954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true">
                <a:solidFill>
                  <a:srgbClr val="DCE7E2"/>
                </a:solidFill>
                <a:latin typeface="Arimo Bold"/>
                <a:ea typeface="Arimo Bold"/>
                <a:cs typeface="Arimo Bold"/>
                <a:sym typeface="Arimo Bold"/>
              </a:rPr>
              <a:t>NO SE ATRIBUYÓ EVIDENCIA RETROACTIVA AL SPRINT 1.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828800"/>
            <a:ext cx="16954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de Sprint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8286750"/>
            <a:ext cx="3619500" cy="1143000"/>
            <a:chOff x="0" y="0"/>
            <a:chExt cx="4826000" cy="152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2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826000">
                  <a:moveTo>
                    <a:pt x="42779" y="0"/>
                  </a:moveTo>
                  <a:lnTo>
                    <a:pt x="4783221" y="0"/>
                  </a:lnTo>
                  <a:cubicBezTo>
                    <a:pt x="4794567" y="0"/>
                    <a:pt x="4805448" y="4507"/>
                    <a:pt x="4813471" y="12530"/>
                  </a:cubicBezTo>
                  <a:cubicBezTo>
                    <a:pt x="4821493" y="20552"/>
                    <a:pt x="4826000" y="31433"/>
                    <a:pt x="4826000" y="42779"/>
                  </a:cubicBezTo>
                  <a:lnTo>
                    <a:pt x="4826000" y="1481221"/>
                  </a:lnTo>
                  <a:cubicBezTo>
                    <a:pt x="4826000" y="1492567"/>
                    <a:pt x="4821493" y="1503448"/>
                    <a:pt x="4813471" y="1511470"/>
                  </a:cubicBezTo>
                  <a:cubicBezTo>
                    <a:pt x="4805448" y="1519493"/>
                    <a:pt x="4794567" y="1524000"/>
                    <a:pt x="4783221" y="1524000"/>
                  </a:cubicBezTo>
                  <a:lnTo>
                    <a:pt x="42779" y="1524000"/>
                  </a:lnTo>
                  <a:cubicBezTo>
                    <a:pt x="31433" y="1524000"/>
                    <a:pt x="20552" y="1519493"/>
                    <a:pt x="12530" y="1511470"/>
                  </a:cubicBezTo>
                  <a:cubicBezTo>
                    <a:pt x="4507" y="1503448"/>
                    <a:pt x="0" y="1492567"/>
                    <a:pt x="0" y="1481221"/>
                  </a:cubicBezTo>
                  <a:lnTo>
                    <a:pt x="0" y="42779"/>
                  </a:lnTo>
                  <a:cubicBezTo>
                    <a:pt x="0" y="31433"/>
                    <a:pt x="4507" y="20552"/>
                    <a:pt x="12530" y="12530"/>
                  </a:cubicBezTo>
                  <a:cubicBezTo>
                    <a:pt x="20552" y="4507"/>
                    <a:pt x="31433" y="0"/>
                    <a:pt x="42779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26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1562100"/>
            <a:ext cx="16954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Base Técnica Verificable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6750" y="5143500"/>
            <a:ext cx="16954500" cy="756285"/>
            <a:chOff x="0" y="0"/>
            <a:chExt cx="22606000" cy="10083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76200"/>
              <a:ext cx="68580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DATOS REALES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22300"/>
              <a:ext cx="6858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NASA FIRMS · DMC 330007 · Copernicus DEM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874000" y="-76200"/>
              <a:ext cx="68580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PIPELINE CAUSAL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7874000" y="622300"/>
              <a:ext cx="6858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Features ≤ T → ranking de 50 celdas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5748000" y="-76200"/>
              <a:ext cx="68580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LIMITACIONES EXPLÍCITAS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5748000" y="622300"/>
              <a:ext cx="6858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Score relativo, no alerta oficial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66750" y="7086600"/>
            <a:ext cx="11201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S.A.P.I. prioriza riesgo relativo; no reemplaza una alerta oficial.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750" y="8505825"/>
            <a:ext cx="28575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DEMO →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2714625"/>
            <a:ext cx="1695450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para Sprint 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191250" y="5143500"/>
            <a:ext cx="19050" cy="1524000"/>
            <a:chOff x="0" y="0"/>
            <a:chExt cx="25400" cy="203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5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96750" y="5143500"/>
            <a:ext cx="19050" cy="1524000"/>
            <a:chOff x="0" y="0"/>
            <a:chExt cx="25400" cy="2032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5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S.A.P.I. — Sistema de Alerta y Priorización</dc:description>
  <dc:identifier>DAHUkB2w4Zg</dc:identifier>
  <dcterms:modified xsi:type="dcterms:W3CDTF">2011-08-01T06:04:30Z</dcterms:modified>
  <cp:revision>1</cp:revision>
  <dc:title>Presentación - S.A.P.I. — Sistema de Alerta y Priorización</dc:title>
</cp:coreProperties>
</file>